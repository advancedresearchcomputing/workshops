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56" d="100"/>
          <a:sy n="156" d="100"/>
        </p:scale>
        <p:origin x="80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2899-4D9C-3D19-3655-F7AD9F24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The Pattern:  Distributed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1C1DA-0CDA-3DD9-788E-E78AD760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803350" cy="3416400"/>
          </a:xfrm>
        </p:spPr>
        <p:txBody>
          <a:bodyPr>
            <a:normAutofit fontScale="85000" lnSpcReduction="10000"/>
          </a:bodyPr>
          <a:lstStyle/>
          <a:p>
            <a:pPr marL="342900">
              <a:buFont typeface="+mj-lt"/>
              <a:buAutoNum type="arabicPeriod"/>
            </a:pPr>
            <a:r>
              <a:rPr lang="en-US" dirty="0"/>
              <a:t>Computational problem that is large in some sense.</a:t>
            </a:r>
          </a:p>
          <a:p>
            <a:pPr marL="800100" lvl="1">
              <a:buFont typeface="+mj-lt"/>
              <a:buAutoNum type="arabicPeriod"/>
            </a:pPr>
            <a:r>
              <a:rPr lang="en-US" dirty="0"/>
              <a:t>Large in number of compute cores (</a:t>
            </a:r>
            <a:r>
              <a:rPr lang="en-US" dirty="0" err="1"/>
              <a:t>cpus</a:t>
            </a:r>
            <a:r>
              <a:rPr lang="en-US" dirty="0"/>
              <a:t>) required for computations.</a:t>
            </a:r>
          </a:p>
          <a:p>
            <a:pPr marL="800100" lvl="1">
              <a:buFont typeface="+mj-lt"/>
              <a:buAutoNum type="arabicPeriod"/>
            </a:pPr>
            <a:r>
              <a:rPr lang="en-US" dirty="0"/>
              <a:t>Large in amount of memory required for data.</a:t>
            </a:r>
          </a:p>
          <a:p>
            <a:pPr marL="342900">
              <a:buFont typeface="+mj-lt"/>
              <a:buAutoNum type="arabicPeriod"/>
            </a:pPr>
            <a:r>
              <a:rPr lang="en-US" dirty="0"/>
              <a:t>Rather than run on a single machine with very large amounts of memory and numbers of cores, which is a very expensive piece of equipment, connect cheaper, more standard compute nodes together so that they can share data and each work on pieces of the problem.</a:t>
            </a:r>
          </a:p>
          <a:p>
            <a:pPr marL="342900">
              <a:buFont typeface="+mj-lt"/>
              <a:buAutoNum type="arabicPeriod"/>
            </a:pPr>
            <a:r>
              <a:rPr lang="en-US" dirty="0"/>
              <a:t>Connecting standard compute nodes is scalable.</a:t>
            </a:r>
          </a:p>
          <a:p>
            <a:pPr marL="342900">
              <a:buFont typeface="+mj-lt"/>
              <a:buAutoNum type="arabicPeriod"/>
            </a:pPr>
            <a:r>
              <a:rPr lang="en-US" dirty="0"/>
              <a:t>MPI [the Message Passing Interface] is the technology of choice for many such problems because it is a low latency, flexible information sharing standard that is often used in HPC applications. 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F80302-C06A-A29B-F6D1-B7934ABE2ADC}"/>
              </a:ext>
            </a:extLst>
          </p:cNvPr>
          <p:cNvGrpSpPr/>
          <p:nvPr/>
        </p:nvGrpSpPr>
        <p:grpSpPr>
          <a:xfrm>
            <a:off x="6866164" y="1412421"/>
            <a:ext cx="1224643" cy="269422"/>
            <a:chOff x="6637564" y="1412421"/>
            <a:chExt cx="1224643" cy="2694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52FDDB-F050-3AD2-6CCB-BA7AFD504B3B}"/>
                </a:ext>
              </a:extLst>
            </p:cNvPr>
            <p:cNvSpPr/>
            <p:nvPr/>
          </p:nvSpPr>
          <p:spPr>
            <a:xfrm>
              <a:off x="6637564" y="1412421"/>
              <a:ext cx="1224643" cy="269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59A46B1-D1F0-167A-17C1-39B7EB7A8B76}"/>
                </a:ext>
              </a:extLst>
            </p:cNvPr>
            <p:cNvSpPr/>
            <p:nvPr/>
          </p:nvSpPr>
          <p:spPr>
            <a:xfrm>
              <a:off x="6700157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5E2E5F8-9307-01DC-B7E7-237DDF631573}"/>
                </a:ext>
              </a:extLst>
            </p:cNvPr>
            <p:cNvSpPr/>
            <p:nvPr/>
          </p:nvSpPr>
          <p:spPr>
            <a:xfrm>
              <a:off x="6841674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0F960A0-A6FA-8C32-B1F0-995F1CCB886A}"/>
                </a:ext>
              </a:extLst>
            </p:cNvPr>
            <p:cNvSpPr/>
            <p:nvPr/>
          </p:nvSpPr>
          <p:spPr>
            <a:xfrm>
              <a:off x="6983191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5AB952-6DC0-8906-E35F-93A42C64658A}"/>
                </a:ext>
              </a:extLst>
            </p:cNvPr>
            <p:cNvSpPr/>
            <p:nvPr/>
          </p:nvSpPr>
          <p:spPr>
            <a:xfrm>
              <a:off x="7222672" y="1505629"/>
              <a:ext cx="595993" cy="73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D40581-9217-82BE-41F8-3E800CD19CD6}"/>
              </a:ext>
            </a:extLst>
          </p:cNvPr>
          <p:cNvGrpSpPr/>
          <p:nvPr/>
        </p:nvGrpSpPr>
        <p:grpSpPr>
          <a:xfrm>
            <a:off x="6866164" y="1747349"/>
            <a:ext cx="1224643" cy="269422"/>
            <a:chOff x="6637564" y="1412421"/>
            <a:chExt cx="1224643" cy="26942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7651D8-6B1E-B8FF-B5DA-154C6202221E}"/>
                </a:ext>
              </a:extLst>
            </p:cNvPr>
            <p:cNvSpPr/>
            <p:nvPr/>
          </p:nvSpPr>
          <p:spPr>
            <a:xfrm>
              <a:off x="6637564" y="1412421"/>
              <a:ext cx="1224643" cy="269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C0210C-20CC-18A6-962C-9EABA2BE5EA8}"/>
                </a:ext>
              </a:extLst>
            </p:cNvPr>
            <p:cNvSpPr/>
            <p:nvPr/>
          </p:nvSpPr>
          <p:spPr>
            <a:xfrm>
              <a:off x="6700157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E8A482B-9CE2-E3F8-E569-F9031D62D56E}"/>
                </a:ext>
              </a:extLst>
            </p:cNvPr>
            <p:cNvSpPr/>
            <p:nvPr/>
          </p:nvSpPr>
          <p:spPr>
            <a:xfrm>
              <a:off x="6841674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A28832-686A-2118-191B-FC14BFB50C87}"/>
                </a:ext>
              </a:extLst>
            </p:cNvPr>
            <p:cNvSpPr/>
            <p:nvPr/>
          </p:nvSpPr>
          <p:spPr>
            <a:xfrm>
              <a:off x="6983191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9BF1AC-06B5-5616-8B42-DE806F34E05F}"/>
                </a:ext>
              </a:extLst>
            </p:cNvPr>
            <p:cNvSpPr/>
            <p:nvPr/>
          </p:nvSpPr>
          <p:spPr>
            <a:xfrm>
              <a:off x="7222672" y="1505629"/>
              <a:ext cx="595993" cy="73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0F9FB3-B3AE-9554-5D57-6B313D75F4A4}"/>
              </a:ext>
            </a:extLst>
          </p:cNvPr>
          <p:cNvGrpSpPr/>
          <p:nvPr/>
        </p:nvGrpSpPr>
        <p:grpSpPr>
          <a:xfrm>
            <a:off x="6866164" y="2082277"/>
            <a:ext cx="1224643" cy="269422"/>
            <a:chOff x="6637564" y="1412421"/>
            <a:chExt cx="1224643" cy="2694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CC1765-DF23-16B0-F327-102245746FA3}"/>
                </a:ext>
              </a:extLst>
            </p:cNvPr>
            <p:cNvSpPr/>
            <p:nvPr/>
          </p:nvSpPr>
          <p:spPr>
            <a:xfrm>
              <a:off x="6637564" y="1412421"/>
              <a:ext cx="1224643" cy="269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1C23EDF-67C8-CA57-43B4-018A60EF145A}"/>
                </a:ext>
              </a:extLst>
            </p:cNvPr>
            <p:cNvSpPr/>
            <p:nvPr/>
          </p:nvSpPr>
          <p:spPr>
            <a:xfrm>
              <a:off x="6700157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9ADD589-0278-FFCB-FD9A-A710FED8ED00}"/>
                </a:ext>
              </a:extLst>
            </p:cNvPr>
            <p:cNvSpPr/>
            <p:nvPr/>
          </p:nvSpPr>
          <p:spPr>
            <a:xfrm>
              <a:off x="6841674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491A7AC-0C79-5A87-1DDF-588176F885CB}"/>
                </a:ext>
              </a:extLst>
            </p:cNvPr>
            <p:cNvSpPr/>
            <p:nvPr/>
          </p:nvSpPr>
          <p:spPr>
            <a:xfrm>
              <a:off x="6983191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F259EA-3DE5-4BF4-5881-74C6F5090211}"/>
                </a:ext>
              </a:extLst>
            </p:cNvPr>
            <p:cNvSpPr/>
            <p:nvPr/>
          </p:nvSpPr>
          <p:spPr>
            <a:xfrm>
              <a:off x="7222672" y="1505629"/>
              <a:ext cx="595993" cy="73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7D553F-A23C-24F0-03D4-917CEC030BD2}"/>
              </a:ext>
            </a:extLst>
          </p:cNvPr>
          <p:cNvGrpSpPr/>
          <p:nvPr/>
        </p:nvGrpSpPr>
        <p:grpSpPr>
          <a:xfrm>
            <a:off x="6866164" y="2417205"/>
            <a:ext cx="1224643" cy="269422"/>
            <a:chOff x="6637564" y="1412421"/>
            <a:chExt cx="1224643" cy="26942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2B29FB2-0AFA-1338-7542-644E4AD1C7E4}"/>
                </a:ext>
              </a:extLst>
            </p:cNvPr>
            <p:cNvSpPr/>
            <p:nvPr/>
          </p:nvSpPr>
          <p:spPr>
            <a:xfrm>
              <a:off x="6637564" y="1412421"/>
              <a:ext cx="1224643" cy="269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588F9AF-142A-6F60-D580-725933D97020}"/>
                </a:ext>
              </a:extLst>
            </p:cNvPr>
            <p:cNvSpPr/>
            <p:nvPr/>
          </p:nvSpPr>
          <p:spPr>
            <a:xfrm>
              <a:off x="6700157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D3C627-7331-72E5-1CEA-DA332AF6F542}"/>
                </a:ext>
              </a:extLst>
            </p:cNvPr>
            <p:cNvSpPr/>
            <p:nvPr/>
          </p:nvSpPr>
          <p:spPr>
            <a:xfrm>
              <a:off x="6841674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F01F619-81D1-A12B-5C9B-FE109A840EC7}"/>
                </a:ext>
              </a:extLst>
            </p:cNvPr>
            <p:cNvSpPr/>
            <p:nvPr/>
          </p:nvSpPr>
          <p:spPr>
            <a:xfrm>
              <a:off x="6983191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BF915A0-7926-A320-5B32-F1F734AD5A8F}"/>
                </a:ext>
              </a:extLst>
            </p:cNvPr>
            <p:cNvSpPr/>
            <p:nvPr/>
          </p:nvSpPr>
          <p:spPr>
            <a:xfrm>
              <a:off x="7222672" y="1505629"/>
              <a:ext cx="595993" cy="73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E510AE-6641-53E8-B95C-3039CDD652E3}"/>
              </a:ext>
            </a:extLst>
          </p:cNvPr>
          <p:cNvGrpSpPr/>
          <p:nvPr/>
        </p:nvGrpSpPr>
        <p:grpSpPr>
          <a:xfrm>
            <a:off x="6866164" y="2752133"/>
            <a:ext cx="1224643" cy="269422"/>
            <a:chOff x="6637564" y="1412421"/>
            <a:chExt cx="1224643" cy="26942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4E2366-D24D-0D00-4867-DFA03079E201}"/>
                </a:ext>
              </a:extLst>
            </p:cNvPr>
            <p:cNvSpPr/>
            <p:nvPr/>
          </p:nvSpPr>
          <p:spPr>
            <a:xfrm>
              <a:off x="6637564" y="1412421"/>
              <a:ext cx="1224643" cy="269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D61FC74-EA64-DA44-7A7C-F7082B881732}"/>
                </a:ext>
              </a:extLst>
            </p:cNvPr>
            <p:cNvSpPr/>
            <p:nvPr/>
          </p:nvSpPr>
          <p:spPr>
            <a:xfrm>
              <a:off x="6700157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0509FA9-EF11-DFF9-EE6C-60969C8E5C77}"/>
                </a:ext>
              </a:extLst>
            </p:cNvPr>
            <p:cNvSpPr/>
            <p:nvPr/>
          </p:nvSpPr>
          <p:spPr>
            <a:xfrm>
              <a:off x="6841674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FD1C3A-4DC1-91E9-6601-DC918F177F46}"/>
                </a:ext>
              </a:extLst>
            </p:cNvPr>
            <p:cNvSpPr/>
            <p:nvPr/>
          </p:nvSpPr>
          <p:spPr>
            <a:xfrm>
              <a:off x="6983191" y="1489301"/>
              <a:ext cx="106136" cy="1061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4A45B7-8214-E6DA-25DF-C57C082DE44E}"/>
                </a:ext>
              </a:extLst>
            </p:cNvPr>
            <p:cNvSpPr/>
            <p:nvPr/>
          </p:nvSpPr>
          <p:spPr>
            <a:xfrm>
              <a:off x="7222672" y="1505629"/>
              <a:ext cx="595993" cy="73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471D8EB9-DEF3-314A-F571-9833F3F10B64}"/>
              </a:ext>
            </a:extLst>
          </p:cNvPr>
          <p:cNvCxnSpPr>
            <a:stCxn id="4" idx="3"/>
            <a:endCxn id="12" idx="3"/>
          </p:cNvCxnSpPr>
          <p:nvPr/>
        </p:nvCxnSpPr>
        <p:spPr>
          <a:xfrm>
            <a:off x="8090807" y="1547132"/>
            <a:ext cx="12700" cy="334928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F557F8B9-541E-9A56-F574-1B72D396449E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>
            <a:off x="8090807" y="1547132"/>
            <a:ext cx="12700" cy="669856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6723CFE8-8FAB-7295-6E77-46EDCA4319FB}"/>
              </a:ext>
            </a:extLst>
          </p:cNvPr>
          <p:cNvCxnSpPr>
            <a:cxnSpLocks/>
            <a:stCxn id="4" idx="3"/>
            <a:endCxn id="24" idx="3"/>
          </p:cNvCxnSpPr>
          <p:nvPr/>
        </p:nvCxnSpPr>
        <p:spPr>
          <a:xfrm>
            <a:off x="8090807" y="1547132"/>
            <a:ext cx="12700" cy="1004784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FF0D169D-95DA-93AC-3017-77065226F049}"/>
              </a:ext>
            </a:extLst>
          </p:cNvPr>
          <p:cNvCxnSpPr>
            <a:cxnSpLocks/>
            <a:stCxn id="4" idx="3"/>
            <a:endCxn id="30" idx="3"/>
          </p:cNvCxnSpPr>
          <p:nvPr/>
        </p:nvCxnSpPr>
        <p:spPr>
          <a:xfrm>
            <a:off x="8090807" y="1547132"/>
            <a:ext cx="12700" cy="1339712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614F558D-EE62-008B-66DA-669E16B5878F}"/>
              </a:ext>
            </a:extLst>
          </p:cNvPr>
          <p:cNvCxnSpPr>
            <a:cxnSpLocks/>
            <a:stCxn id="18" idx="3"/>
            <a:endCxn id="24" idx="3"/>
          </p:cNvCxnSpPr>
          <p:nvPr/>
        </p:nvCxnSpPr>
        <p:spPr>
          <a:xfrm>
            <a:off x="8090807" y="2216988"/>
            <a:ext cx="12700" cy="334928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243B21CD-404C-3D74-549A-5A7F159160F0}"/>
              </a:ext>
            </a:extLst>
          </p:cNvPr>
          <p:cNvCxnSpPr>
            <a:cxnSpLocks/>
            <a:stCxn id="12" idx="3"/>
            <a:endCxn id="24" idx="3"/>
          </p:cNvCxnSpPr>
          <p:nvPr/>
        </p:nvCxnSpPr>
        <p:spPr>
          <a:xfrm>
            <a:off x="8090807" y="1882060"/>
            <a:ext cx="12700" cy="669856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0D472A1F-2948-0521-5A79-5AE857155772}"/>
              </a:ext>
            </a:extLst>
          </p:cNvPr>
          <p:cNvCxnSpPr>
            <a:cxnSpLocks/>
            <a:stCxn id="12" idx="3"/>
            <a:endCxn id="30" idx="3"/>
          </p:cNvCxnSpPr>
          <p:nvPr/>
        </p:nvCxnSpPr>
        <p:spPr>
          <a:xfrm>
            <a:off x="8090807" y="1882060"/>
            <a:ext cx="12700" cy="1004784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7D93EE43-60CA-7899-F3B5-B396A73E7851}"/>
              </a:ext>
            </a:extLst>
          </p:cNvPr>
          <p:cNvCxnSpPr>
            <a:cxnSpLocks/>
            <a:stCxn id="24" idx="3"/>
            <a:endCxn id="30" idx="3"/>
          </p:cNvCxnSpPr>
          <p:nvPr/>
        </p:nvCxnSpPr>
        <p:spPr>
          <a:xfrm>
            <a:off x="8090807" y="2551916"/>
            <a:ext cx="12700" cy="334928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E99C65D7-8EEA-358E-589E-DBDACF1FDCB5}"/>
              </a:ext>
            </a:extLst>
          </p:cNvPr>
          <p:cNvCxnSpPr>
            <a:cxnSpLocks/>
            <a:stCxn id="18" idx="3"/>
            <a:endCxn id="30" idx="3"/>
          </p:cNvCxnSpPr>
          <p:nvPr/>
        </p:nvCxnSpPr>
        <p:spPr>
          <a:xfrm>
            <a:off x="8090807" y="2216988"/>
            <a:ext cx="12700" cy="669856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E7B8E17B-7ECA-155C-515B-64C7F75EF3DA}"/>
              </a:ext>
            </a:extLst>
          </p:cNvPr>
          <p:cNvCxnSpPr>
            <a:cxnSpLocks/>
            <a:stCxn id="12" idx="3"/>
            <a:endCxn id="30" idx="3"/>
          </p:cNvCxnSpPr>
          <p:nvPr/>
        </p:nvCxnSpPr>
        <p:spPr>
          <a:xfrm>
            <a:off x="8090807" y="1882060"/>
            <a:ext cx="12700" cy="1004784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3490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Macintosh PowerPoint</Application>
  <PresentationFormat>On-screen Show (16:9)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The Pattern:  Distributed Computing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Kuhlman, Chris</cp:lastModifiedBy>
  <cp:revision>1</cp:revision>
  <dcterms:modified xsi:type="dcterms:W3CDTF">2025-10-21T16:54:18Z</dcterms:modified>
</cp:coreProperties>
</file>
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5670-0D26-55C2-1409-D1A237B86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CA824-2AA8-29A0-EE33-F0D32729F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6A27-6C0E-1196-550A-6BE9A8B3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4B89-9FA4-8AA9-60E9-CD99686D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6380-735C-E441-A133-F4F2EA1D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CB61-DC5E-5A71-130A-592C4816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3427-5309-5952-FA83-3EF53633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D5863-B033-6D16-6F95-8E002A5D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B8D-D1FC-B8D4-7699-8BD63BF6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36224-B18F-9E11-B8BC-67155718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1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B642-D21B-4C25-006A-C67FFFBD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F3ED-93FF-99C4-AAFA-49E030C8A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44874-EA0C-FDD5-E54E-07D5E447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50C8-E43B-BF50-CC88-0747B485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D130-29ED-0026-D9E1-4186F85E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3DBE-020D-43F2-0A52-5BF080B0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A658-593E-D0E2-3E75-77CA3F5B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5D73D-8914-6991-79D0-662ABCF47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5AF9D-AE55-4D9C-2E38-A4173E3B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E2E6D-6CDD-0DBA-2FEB-C0E601DA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C28E3-0271-4AA4-B67A-DD3311C9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5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0F37-94A1-6C78-346A-8F797C0D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96C06-38BF-3BC7-C910-72FF99D42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1875C-E72D-3272-1CE9-FF9F29A8D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15421-F838-D44E-296A-7EAA72EED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D5617-6803-0222-D714-F89BFBAD0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8CDF0-B74A-F7C4-BFC0-D247B286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3CAAA-64A4-299F-9207-DF9D404A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7F916-3AF2-DD2E-CC67-5BADE86C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3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F839-1646-532F-FB42-2AB89786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BADC7-D60F-D1A4-92F1-8EE8ECC1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FEC1E-3D1C-5C9E-2D00-B8CFA77E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B5504-C212-27FF-8041-65BB97BA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1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19151-1574-274D-CAD9-C5DC46D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7155D-0BAD-6577-DDBE-52DFBA55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4E157-7B4D-46A3-6273-6D820C10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D8E7-3452-72DD-74D4-657448DE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9A056-3C78-BB9F-B012-45461600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FC91-FA87-C69F-2E82-84C308863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4D86B-0A67-4B3C-1E6B-48B6E94E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D8D40-7D3E-3CDC-B506-E084E199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C5105-437C-EBDC-443B-90329232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D0CC-FF26-5E02-6107-057EFA45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13C1D-D5C4-CB7B-F2D4-07D9FAE86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28206-B58F-3219-833E-0A434C312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94B3B-A32E-A9E0-B4E1-6BB19ACB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1793-D58C-B234-DBAE-2CAFF409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C17CA-E7EB-0373-7D3F-785EDEB2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6B83-329D-A009-1D09-4C747CA9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4F4F-F632-C7E7-66C7-156DB309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65CB6-C1DF-1506-8C9A-F79C3FF9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F9C0-6A79-2CD0-89FE-B0CE17CE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C8048-EAD4-2A10-4710-463009D8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5F39B-51B0-01FD-9608-D03B321CA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CD8CB-5ADA-EB2D-91CB-D04ADB703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8CE78-B7FA-CFEA-8EB3-1EBB520E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B8EA-2813-51B4-56D3-AF28256C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F7739-F481-F56E-28C2-760A3877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C5FF6-4DC5-0BB2-9BA3-9BF5B0143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D399-5A25-3E85-080D-79B17C61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C73D-5609-DACF-441A-7717D678B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D60A2-CA4F-E84F-B3EF-B3694DF60CE6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6353D-A4D8-825D-4E5E-176BE9FDC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BEEF3-F002-7EEC-444A-7B6CBEA7D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9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D1E9DA-7F2C-6E1D-1302-664B0CBA3B6B}"/>
              </a:ext>
            </a:extLst>
          </p:cNvPr>
          <p:cNvSpPr/>
          <p:nvPr/>
        </p:nvSpPr>
        <p:spPr>
          <a:xfrm>
            <a:off x="936171" y="2712526"/>
            <a:ext cx="2854398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Compute Cores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BE2653-8D47-8E8C-189C-ABD373D4C3E0}"/>
              </a:ext>
            </a:extLst>
          </p:cNvPr>
          <p:cNvSpPr/>
          <p:nvPr/>
        </p:nvSpPr>
        <p:spPr>
          <a:xfrm>
            <a:off x="4048290" y="4541326"/>
            <a:ext cx="1119352" cy="4829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911B68-61C0-1D53-1779-E15CDD02704E}"/>
              </a:ext>
            </a:extLst>
          </p:cNvPr>
          <p:cNvSpPr txBox="1"/>
          <p:nvPr/>
        </p:nvSpPr>
        <p:spPr>
          <a:xfrm>
            <a:off x="3652415" y="709309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GPU Computing</a:t>
            </a:r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84811F-06E2-78EE-CC9B-44A747E1C61B}"/>
              </a:ext>
            </a:extLst>
          </p:cNvPr>
          <p:cNvSpPr/>
          <p:nvPr/>
        </p:nvSpPr>
        <p:spPr>
          <a:xfrm>
            <a:off x="1894117" y="3303814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8538FE-441E-8D13-5557-0B1AD3823710}"/>
              </a:ext>
            </a:extLst>
          </p:cNvPr>
          <p:cNvSpPr/>
          <p:nvPr/>
        </p:nvSpPr>
        <p:spPr>
          <a:xfrm>
            <a:off x="2111831" y="3303814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407A42-F7D5-2B5D-C9D4-19050BA45571}"/>
              </a:ext>
            </a:extLst>
          </p:cNvPr>
          <p:cNvSpPr/>
          <p:nvPr/>
        </p:nvSpPr>
        <p:spPr>
          <a:xfrm>
            <a:off x="2329545" y="3303814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56E9F3-28BB-FE09-6BFA-C23A4639CFEC}"/>
              </a:ext>
            </a:extLst>
          </p:cNvPr>
          <p:cNvSpPr/>
          <p:nvPr/>
        </p:nvSpPr>
        <p:spPr>
          <a:xfrm>
            <a:off x="2547259" y="3303814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C2242D-D041-8817-ABCB-344B1256DFC3}"/>
              </a:ext>
            </a:extLst>
          </p:cNvPr>
          <p:cNvSpPr/>
          <p:nvPr/>
        </p:nvSpPr>
        <p:spPr>
          <a:xfrm>
            <a:off x="2764974" y="3303814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9D4435-4267-7E17-3D86-47FF70DF50B9}"/>
              </a:ext>
            </a:extLst>
          </p:cNvPr>
          <p:cNvSpPr/>
          <p:nvPr/>
        </p:nvSpPr>
        <p:spPr>
          <a:xfrm>
            <a:off x="1894116" y="3532416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1B7D93-CB90-14F8-839E-FD27875F4A7C}"/>
              </a:ext>
            </a:extLst>
          </p:cNvPr>
          <p:cNvSpPr/>
          <p:nvPr/>
        </p:nvSpPr>
        <p:spPr>
          <a:xfrm>
            <a:off x="2111830" y="3532416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DA69BB-F3AF-EB13-38FF-21CA79BF3293}"/>
              </a:ext>
            </a:extLst>
          </p:cNvPr>
          <p:cNvSpPr/>
          <p:nvPr/>
        </p:nvSpPr>
        <p:spPr>
          <a:xfrm>
            <a:off x="2329544" y="3532416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112A7E-A519-4A88-2A66-C1BBAA9D1BB8}"/>
              </a:ext>
            </a:extLst>
          </p:cNvPr>
          <p:cNvSpPr/>
          <p:nvPr/>
        </p:nvSpPr>
        <p:spPr>
          <a:xfrm>
            <a:off x="2547258" y="3532416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8C1646-B9FA-9142-5105-E1CB3094110C}"/>
              </a:ext>
            </a:extLst>
          </p:cNvPr>
          <p:cNvSpPr/>
          <p:nvPr/>
        </p:nvSpPr>
        <p:spPr>
          <a:xfrm>
            <a:off x="2764973" y="3532416"/>
            <a:ext cx="130629" cy="130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AD26DC-1C0A-C82E-52C8-B140245BADAD}"/>
              </a:ext>
            </a:extLst>
          </p:cNvPr>
          <p:cNvSpPr txBox="1"/>
          <p:nvPr/>
        </p:nvSpPr>
        <p:spPr>
          <a:xfrm>
            <a:off x="1042691" y="3293713"/>
            <a:ext cx="74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0EEE58-AED6-894E-E3C9-1E19D82BBDED}"/>
              </a:ext>
            </a:extLst>
          </p:cNvPr>
          <p:cNvSpPr/>
          <p:nvPr/>
        </p:nvSpPr>
        <p:spPr>
          <a:xfrm>
            <a:off x="3790569" y="3532415"/>
            <a:ext cx="2854398" cy="170686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GPU Accelerator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FCAA55-6DF0-93E0-BADA-E659BB7CB1B2}"/>
              </a:ext>
            </a:extLst>
          </p:cNvPr>
          <p:cNvSpPr/>
          <p:nvPr/>
        </p:nvSpPr>
        <p:spPr>
          <a:xfrm>
            <a:off x="4931230" y="3956956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F5AFC3-4C01-A907-E123-93065E8334B8}"/>
              </a:ext>
            </a:extLst>
          </p:cNvPr>
          <p:cNvSpPr/>
          <p:nvPr/>
        </p:nvSpPr>
        <p:spPr>
          <a:xfrm>
            <a:off x="5148944" y="3956956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8487E3-B86F-CC91-0827-87EF916705EB}"/>
              </a:ext>
            </a:extLst>
          </p:cNvPr>
          <p:cNvSpPr/>
          <p:nvPr/>
        </p:nvSpPr>
        <p:spPr>
          <a:xfrm>
            <a:off x="5366658" y="3956956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3C0DA9-4135-7DDF-4E08-72F1E88F3EFF}"/>
              </a:ext>
            </a:extLst>
          </p:cNvPr>
          <p:cNvSpPr/>
          <p:nvPr/>
        </p:nvSpPr>
        <p:spPr>
          <a:xfrm>
            <a:off x="5584372" y="3956956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F57074-F530-CC00-2AC9-369F95C7E029}"/>
              </a:ext>
            </a:extLst>
          </p:cNvPr>
          <p:cNvSpPr/>
          <p:nvPr/>
        </p:nvSpPr>
        <p:spPr>
          <a:xfrm>
            <a:off x="5802087" y="3956956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25A742-62C0-C480-A0A7-7C98D12EFB82}"/>
              </a:ext>
            </a:extLst>
          </p:cNvPr>
          <p:cNvSpPr/>
          <p:nvPr/>
        </p:nvSpPr>
        <p:spPr>
          <a:xfrm>
            <a:off x="4931229" y="4185558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B6CC90-B526-CF33-74D1-D03C70509184}"/>
              </a:ext>
            </a:extLst>
          </p:cNvPr>
          <p:cNvSpPr/>
          <p:nvPr/>
        </p:nvSpPr>
        <p:spPr>
          <a:xfrm>
            <a:off x="5148943" y="4185558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68869A-5A35-F9E5-700C-88B4D55E1179}"/>
              </a:ext>
            </a:extLst>
          </p:cNvPr>
          <p:cNvSpPr/>
          <p:nvPr/>
        </p:nvSpPr>
        <p:spPr>
          <a:xfrm>
            <a:off x="5366657" y="4185558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A487EC6-267D-FE81-CABE-F09505BD5F9F}"/>
              </a:ext>
            </a:extLst>
          </p:cNvPr>
          <p:cNvSpPr/>
          <p:nvPr/>
        </p:nvSpPr>
        <p:spPr>
          <a:xfrm>
            <a:off x="5584371" y="4185558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C18A886-6DCF-EB2E-B30E-1EBEF18ABF0E}"/>
              </a:ext>
            </a:extLst>
          </p:cNvPr>
          <p:cNvSpPr/>
          <p:nvPr/>
        </p:nvSpPr>
        <p:spPr>
          <a:xfrm>
            <a:off x="5802086" y="4185558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3FAE5C-E1CE-CDEF-D3B3-92E104A163F8}"/>
              </a:ext>
            </a:extLst>
          </p:cNvPr>
          <p:cNvSpPr txBox="1"/>
          <p:nvPr/>
        </p:nvSpPr>
        <p:spPr>
          <a:xfrm>
            <a:off x="3960487" y="3956980"/>
            <a:ext cx="94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31210C-91F0-17C0-D702-FEC2AD4FAFAE}"/>
              </a:ext>
            </a:extLst>
          </p:cNvPr>
          <p:cNvSpPr/>
          <p:nvPr/>
        </p:nvSpPr>
        <p:spPr>
          <a:xfrm>
            <a:off x="6346373" y="3956955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9E0FA5-7E91-E0F3-E87F-3DE608EDB4D0}"/>
              </a:ext>
            </a:extLst>
          </p:cNvPr>
          <p:cNvSpPr/>
          <p:nvPr/>
        </p:nvSpPr>
        <p:spPr>
          <a:xfrm>
            <a:off x="6346372" y="4185557"/>
            <a:ext cx="130629" cy="130629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748096-C0CF-CEF2-74CE-9FC4B7418E99}"/>
              </a:ext>
            </a:extLst>
          </p:cNvPr>
          <p:cNvSpPr txBox="1"/>
          <p:nvPr/>
        </p:nvSpPr>
        <p:spPr>
          <a:xfrm>
            <a:off x="5956825" y="3764418"/>
            <a:ext cx="381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410AB2-6A24-56B8-CDAC-4452D5B646CC}"/>
              </a:ext>
            </a:extLst>
          </p:cNvPr>
          <p:cNvSpPr/>
          <p:nvPr/>
        </p:nvSpPr>
        <p:spPr>
          <a:xfrm>
            <a:off x="1783663" y="3956955"/>
            <a:ext cx="1119352" cy="48293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B7833E-61DA-B681-4862-D5C0D4827D1C}"/>
              </a:ext>
            </a:extLst>
          </p:cNvPr>
          <p:cNvSpPr txBox="1"/>
          <p:nvPr/>
        </p:nvSpPr>
        <p:spPr>
          <a:xfrm>
            <a:off x="7281106" y="478476"/>
            <a:ext cx="4529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Instruction Multiple Data (SIMD)</a:t>
            </a:r>
          </a:p>
          <a:p>
            <a:pPr algn="ctr"/>
            <a:r>
              <a:rPr lang="en-US" dirty="0"/>
              <a:t>vs.</a:t>
            </a:r>
          </a:p>
          <a:p>
            <a:pPr algn="ctr"/>
            <a:r>
              <a:rPr lang="en-US" dirty="0"/>
              <a:t>Single Instruction Multiple Threads (SIMT)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22A8FA-10BC-1037-4B1A-5803F57651C6}"/>
              </a:ext>
            </a:extLst>
          </p:cNvPr>
          <p:cNvSpPr txBox="1"/>
          <p:nvPr/>
        </p:nvSpPr>
        <p:spPr>
          <a:xfrm>
            <a:off x="575642" y="5630458"/>
            <a:ext cx="6483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lot more threads on GPU than cores on the compute node.</a:t>
            </a:r>
          </a:p>
          <a:p>
            <a:r>
              <a:rPr lang="en-US" dirty="0"/>
              <a:t>Working to consolidate memory for cores and memory for GPUs.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CE85481-7654-5B29-AFC4-7DDB8663FEFB}"/>
              </a:ext>
            </a:extLst>
          </p:cNvPr>
          <p:cNvSpPr/>
          <p:nvPr/>
        </p:nvSpPr>
        <p:spPr>
          <a:xfrm>
            <a:off x="590133" y="2045668"/>
            <a:ext cx="6409380" cy="34298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Compute Node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15F44E-4EB5-8F77-67B3-B64A9F2B5EFD}"/>
              </a:ext>
            </a:extLst>
          </p:cNvPr>
          <p:cNvSpPr txBox="1"/>
          <p:nvPr/>
        </p:nvSpPr>
        <p:spPr>
          <a:xfrm>
            <a:off x="7387240" y="2165411"/>
            <a:ext cx="46305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A collection of </a:t>
            </a:r>
            <a:r>
              <a:rPr lang="en-US" b="1" i="1" dirty="0"/>
              <a:t>threads</a:t>
            </a:r>
            <a:r>
              <a:rPr lang="en-US" dirty="0"/>
              <a:t> is called a </a:t>
            </a:r>
            <a:r>
              <a:rPr lang="en-US" b="1" i="1" dirty="0"/>
              <a:t>warp</a:t>
            </a:r>
            <a:r>
              <a:rPr lang="en-US" dirty="0"/>
              <a:t>.</a:t>
            </a:r>
          </a:p>
          <a:p>
            <a:r>
              <a:rPr lang="en-US" dirty="0"/>
              <a:t>- About 32 threads in a warp.</a:t>
            </a:r>
          </a:p>
          <a:p>
            <a:r>
              <a:rPr lang="en-US" dirty="0"/>
              <a:t>- Each thread has its own program counter and register space.</a:t>
            </a:r>
          </a:p>
          <a:p>
            <a:r>
              <a:rPr lang="en-US" dirty="0"/>
              <a:t>- Threads within a warp can operate on </a:t>
            </a:r>
            <a:r>
              <a:rPr lang="en-US" b="1" i="1" dirty="0"/>
              <a:t>divergent paths </a:t>
            </a:r>
            <a:r>
              <a:rPr lang="en-US" dirty="0"/>
              <a:t>because of conditionals.</a:t>
            </a:r>
          </a:p>
          <a:p>
            <a:r>
              <a:rPr lang="en-US" dirty="0"/>
              <a:t>- In a warp, a set of threads with same location of program counter executes concurrently [this is the </a:t>
            </a:r>
            <a:r>
              <a:rPr lang="en-US" b="1" i="1" dirty="0"/>
              <a:t>active path</a:t>
            </a:r>
            <a:r>
              <a:rPr lang="en-US" dirty="0"/>
              <a:t>]; all other threads of warp are idle [</a:t>
            </a:r>
            <a:r>
              <a:rPr lang="en-US" b="1" i="1" dirty="0"/>
              <a:t>inactive path]</a:t>
            </a:r>
            <a:r>
              <a:rPr lang="en-US" dirty="0"/>
              <a:t>.</a:t>
            </a:r>
          </a:p>
          <a:p>
            <a:r>
              <a:rPr lang="en-US" dirty="0"/>
              <a:t>- A set of divergent paths within a warp are executed </a:t>
            </a:r>
            <a:r>
              <a:rPr lang="en-US" b="1" i="1" dirty="0"/>
              <a:t>sequentially</a:t>
            </a:r>
            <a:r>
              <a:rPr lang="en-US" dirty="0"/>
              <a:t>; a loss of some parallelism.</a:t>
            </a:r>
          </a:p>
          <a:p>
            <a:r>
              <a:rPr lang="en-US" dirty="0"/>
              <a:t>- All paths then rejoin the same thread of execution.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E9655A-CE9C-1387-43DC-1593E7837BBD}"/>
              </a:ext>
            </a:extLst>
          </p:cNvPr>
          <p:cNvSpPr txBox="1"/>
          <p:nvPr/>
        </p:nvSpPr>
        <p:spPr>
          <a:xfrm>
            <a:off x="9165771" y="167633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32FF"/>
                </a:solidFill>
              </a:rPr>
              <a:t>SIMT</a:t>
            </a:r>
          </a:p>
        </p:txBody>
      </p:sp>
    </p:spTree>
    <p:extLst>
      <p:ext uri="{BB962C8B-B14F-4D97-AF65-F5344CB8AC3E}">
        <p14:creationId xmlns:p14="http://schemas.microsoft.com/office/powerpoint/2010/main" val="1579612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164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10</cp:revision>
  <dcterms:created xsi:type="dcterms:W3CDTF">2025-02-25T20:00:03Z</dcterms:created>
  <dcterms:modified xsi:type="dcterms:W3CDTF">2025-07-14T21:20:40Z</dcterms:modified>
</cp:coreProperties>
</file>
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8"/>
    <p:restoredTop sz="94718"/>
  </p:normalViewPr>
  <p:slideViewPr>
    <p:cSldViewPr snapToGrid="0">
      <p:cViewPr varScale="1">
        <p:scale>
          <a:sx n="134" d="100"/>
          <a:sy n="134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9F63-9867-2E33-7D61-6E40FBED3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C3651E-60AE-E496-A16F-126BE13DC2B3}"/>
              </a:ext>
            </a:extLst>
          </p:cNvPr>
          <p:cNvSpPr/>
          <p:nvPr/>
        </p:nvSpPr>
        <p:spPr>
          <a:xfrm>
            <a:off x="4029742" y="1294067"/>
            <a:ext cx="3096126" cy="1033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8BAB44-CAEF-7B04-CD16-EE2CF6BC8CCE}"/>
              </a:ext>
            </a:extLst>
          </p:cNvPr>
          <p:cNvCxnSpPr>
            <a:cxnSpLocks/>
          </p:cNvCxnSpPr>
          <p:nvPr/>
        </p:nvCxnSpPr>
        <p:spPr>
          <a:xfrm>
            <a:off x="4587718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A25F2C-9129-0589-021D-A5847AF84528}"/>
              </a:ext>
            </a:extLst>
          </p:cNvPr>
          <p:cNvCxnSpPr>
            <a:cxnSpLocks/>
          </p:cNvCxnSpPr>
          <p:nvPr/>
        </p:nvCxnSpPr>
        <p:spPr>
          <a:xfrm>
            <a:off x="5285971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7D4E72-1C8D-24F0-E9CD-DBF04869F5E7}"/>
              </a:ext>
            </a:extLst>
          </p:cNvPr>
          <p:cNvCxnSpPr>
            <a:cxnSpLocks/>
          </p:cNvCxnSpPr>
          <p:nvPr/>
        </p:nvCxnSpPr>
        <p:spPr>
          <a:xfrm>
            <a:off x="5984224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D2C17A-B979-9641-65E7-E2D30722186E}"/>
              </a:ext>
            </a:extLst>
          </p:cNvPr>
          <p:cNvCxnSpPr>
            <a:cxnSpLocks/>
          </p:cNvCxnSpPr>
          <p:nvPr/>
        </p:nvCxnSpPr>
        <p:spPr>
          <a:xfrm>
            <a:off x="6682477" y="139736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265E2950-7995-777B-D46E-02810631F159}"/>
              </a:ext>
            </a:extLst>
          </p:cNvPr>
          <p:cNvSpPr/>
          <p:nvPr/>
        </p:nvSpPr>
        <p:spPr>
          <a:xfrm>
            <a:off x="3642280" y="1292836"/>
            <a:ext cx="332988" cy="66402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3583DC-B7AD-A4A1-079E-F4FA67A56B19}"/>
              </a:ext>
            </a:extLst>
          </p:cNvPr>
          <p:cNvSpPr/>
          <p:nvPr/>
        </p:nvSpPr>
        <p:spPr>
          <a:xfrm>
            <a:off x="4018856" y="1849235"/>
            <a:ext cx="3107014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CFC180-E18A-50B0-338C-8F5FD12EDD22}"/>
              </a:ext>
            </a:extLst>
          </p:cNvPr>
          <p:cNvCxnSpPr>
            <a:cxnSpLocks/>
          </p:cNvCxnSpPr>
          <p:nvPr/>
        </p:nvCxnSpPr>
        <p:spPr>
          <a:xfrm>
            <a:off x="4576832" y="343518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877025-E708-45FE-92BB-CFFA8866F077}"/>
              </a:ext>
            </a:extLst>
          </p:cNvPr>
          <p:cNvCxnSpPr>
            <a:cxnSpLocks/>
          </p:cNvCxnSpPr>
          <p:nvPr/>
        </p:nvCxnSpPr>
        <p:spPr>
          <a:xfrm>
            <a:off x="5275085" y="3435180"/>
            <a:ext cx="0" cy="33563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998E402-061B-AC56-7DC6-4AB193DF0F43}"/>
              </a:ext>
            </a:extLst>
          </p:cNvPr>
          <p:cNvCxnSpPr>
            <a:cxnSpLocks/>
          </p:cNvCxnSpPr>
          <p:nvPr/>
        </p:nvCxnSpPr>
        <p:spPr>
          <a:xfrm>
            <a:off x="5973338" y="3435180"/>
            <a:ext cx="0" cy="150258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B4B2893-2B90-0EBE-783B-46F311B92F41}"/>
              </a:ext>
            </a:extLst>
          </p:cNvPr>
          <p:cNvCxnSpPr>
            <a:cxnSpLocks/>
          </p:cNvCxnSpPr>
          <p:nvPr/>
        </p:nvCxnSpPr>
        <p:spPr>
          <a:xfrm>
            <a:off x="6671591" y="3435180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C9B1831-B950-1343-5091-BC9143F0ED14}"/>
              </a:ext>
            </a:extLst>
          </p:cNvPr>
          <p:cNvSpPr txBox="1"/>
          <p:nvPr/>
        </p:nvSpPr>
        <p:spPr>
          <a:xfrm>
            <a:off x="128286" y="1166364"/>
            <a:ext cx="30407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 load balancing:  all processes finish this code segment at the same time.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FB14CF72-8CB0-1A74-154F-89657C30BF79}"/>
              </a:ext>
            </a:extLst>
          </p:cNvPr>
          <p:cNvCxnSpPr>
            <a:cxnSpLocks/>
          </p:cNvCxnSpPr>
          <p:nvPr/>
        </p:nvCxnSpPr>
        <p:spPr>
          <a:xfrm>
            <a:off x="7585167" y="1231876"/>
            <a:ext cx="0" cy="2951959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2BA15152-B587-AEE0-12EC-ABF2F6845AE3}"/>
              </a:ext>
            </a:extLst>
          </p:cNvPr>
          <p:cNvSpPr txBox="1"/>
          <p:nvPr/>
        </p:nvSpPr>
        <p:spPr>
          <a:xfrm>
            <a:off x="7268413" y="4345577"/>
            <a:ext cx="757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3F170E4-D2BD-B033-E8DB-2D892C3BC5BF}"/>
              </a:ext>
            </a:extLst>
          </p:cNvPr>
          <p:cNvSpPr/>
          <p:nvPr/>
        </p:nvSpPr>
        <p:spPr>
          <a:xfrm>
            <a:off x="4041150" y="3331713"/>
            <a:ext cx="3096126" cy="1033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002FF2D-F77C-6D27-A0BF-8129F88F5F6F}"/>
              </a:ext>
            </a:extLst>
          </p:cNvPr>
          <p:cNvSpPr/>
          <p:nvPr/>
        </p:nvSpPr>
        <p:spPr>
          <a:xfrm>
            <a:off x="4030264" y="4931918"/>
            <a:ext cx="3107014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DA17710-5824-7DD0-1795-3EDBD7AE60E6}"/>
              </a:ext>
            </a:extLst>
          </p:cNvPr>
          <p:cNvSpPr/>
          <p:nvPr/>
        </p:nvSpPr>
        <p:spPr>
          <a:xfrm>
            <a:off x="4548531" y="3897728"/>
            <a:ext cx="63133" cy="1034024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137555E-DC54-43E7-638D-023B88B43E9A}"/>
              </a:ext>
            </a:extLst>
          </p:cNvPr>
          <p:cNvSpPr/>
          <p:nvPr/>
        </p:nvSpPr>
        <p:spPr>
          <a:xfrm>
            <a:off x="5239511" y="3751695"/>
            <a:ext cx="63132" cy="1186010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9A28B65-4F14-51B7-8605-6A67E3BB66CF}"/>
              </a:ext>
            </a:extLst>
          </p:cNvPr>
          <p:cNvSpPr/>
          <p:nvPr/>
        </p:nvSpPr>
        <p:spPr>
          <a:xfrm>
            <a:off x="6642989" y="3892795"/>
            <a:ext cx="63133" cy="1034024"/>
          </a:xfrm>
          <a:prstGeom prst="rect">
            <a:avLst/>
          </a:prstGeom>
          <a:solidFill>
            <a:srgbClr val="FF4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9BA8AF07-B268-5B94-9C40-D8A0556CDACB}"/>
              </a:ext>
            </a:extLst>
          </p:cNvPr>
          <p:cNvSpPr/>
          <p:nvPr/>
        </p:nvSpPr>
        <p:spPr>
          <a:xfrm>
            <a:off x="3629051" y="3343339"/>
            <a:ext cx="291608" cy="168099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8EEC682-03A6-5B29-DC6E-ED21EA8BF972}"/>
              </a:ext>
            </a:extLst>
          </p:cNvPr>
          <p:cNvSpPr txBox="1"/>
          <p:nvPr/>
        </p:nvSpPr>
        <p:spPr>
          <a:xfrm>
            <a:off x="128286" y="2406970"/>
            <a:ext cx="266289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Poor load balancing:  all processes do not finish the code segment at the same time.</a:t>
            </a:r>
          </a:p>
          <a:p>
            <a:r>
              <a:rPr lang="en-US" dirty="0"/>
              <a:t>Process 2 completes first, but all of processes 1, 2, and 4 complete very early and then sit and wait for process 3 to complete.</a:t>
            </a:r>
          </a:p>
          <a:p>
            <a:r>
              <a:rPr lang="en-US" dirty="0"/>
              <a:t>This “sitting and waiting” is poor load balancing.</a:t>
            </a:r>
          </a:p>
          <a:p>
            <a:r>
              <a:rPr lang="en-US" dirty="0"/>
              <a:t>In the limit, this </a:t>
            </a:r>
            <a:r>
              <a:rPr lang="en-US"/>
              <a:t>can operate as a serial code.</a:t>
            </a: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8823DC-7DFD-B275-C417-D646FAF19037}"/>
              </a:ext>
            </a:extLst>
          </p:cNvPr>
          <p:cNvSpPr txBox="1"/>
          <p:nvPr/>
        </p:nvSpPr>
        <p:spPr>
          <a:xfrm>
            <a:off x="4191653" y="1401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DE2BED6-4337-60F3-EA3A-C0C30EFEA34F}"/>
              </a:ext>
            </a:extLst>
          </p:cNvPr>
          <p:cNvSpPr txBox="1"/>
          <p:nvPr/>
        </p:nvSpPr>
        <p:spPr>
          <a:xfrm>
            <a:off x="4870212" y="1401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D0AD82-9243-CD6E-3A0D-F7C8BAF1D0BC}"/>
              </a:ext>
            </a:extLst>
          </p:cNvPr>
          <p:cNvSpPr txBox="1"/>
          <p:nvPr/>
        </p:nvSpPr>
        <p:spPr>
          <a:xfrm>
            <a:off x="5598864" y="1401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46B9E2C-9185-632B-6DC4-829B2A3DD2E7}"/>
              </a:ext>
            </a:extLst>
          </p:cNvPr>
          <p:cNvSpPr txBox="1"/>
          <p:nvPr/>
        </p:nvSpPr>
        <p:spPr>
          <a:xfrm>
            <a:off x="6277925" y="1401481"/>
            <a:ext cx="33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DC04E57-4E0D-988F-E149-CA8AB2533422}"/>
              </a:ext>
            </a:extLst>
          </p:cNvPr>
          <p:cNvSpPr txBox="1"/>
          <p:nvPr/>
        </p:nvSpPr>
        <p:spPr>
          <a:xfrm>
            <a:off x="4196005" y="3443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DFFFCE5-DDAB-BFD5-3D8A-E0B0A5872954}"/>
              </a:ext>
            </a:extLst>
          </p:cNvPr>
          <p:cNvSpPr txBox="1"/>
          <p:nvPr/>
        </p:nvSpPr>
        <p:spPr>
          <a:xfrm>
            <a:off x="4874564" y="3443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F7CE4F8-656A-6ADC-8246-FF5797456514}"/>
              </a:ext>
            </a:extLst>
          </p:cNvPr>
          <p:cNvSpPr txBox="1"/>
          <p:nvPr/>
        </p:nvSpPr>
        <p:spPr>
          <a:xfrm>
            <a:off x="5603216" y="344363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7540E5C-15E5-7761-8757-6EFCD1FDEB2A}"/>
              </a:ext>
            </a:extLst>
          </p:cNvPr>
          <p:cNvSpPr txBox="1"/>
          <p:nvPr/>
        </p:nvSpPr>
        <p:spPr>
          <a:xfrm>
            <a:off x="6282277" y="3443638"/>
            <a:ext cx="334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5D84E7A-6C1E-46EB-F269-1012C20B0839}"/>
              </a:ext>
            </a:extLst>
          </p:cNvPr>
          <p:cNvSpPr txBox="1"/>
          <p:nvPr/>
        </p:nvSpPr>
        <p:spPr>
          <a:xfrm>
            <a:off x="8699863" y="1849234"/>
            <a:ext cx="24951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 good load balancing is not about giving each process the same amount of data to work on.</a:t>
            </a:r>
          </a:p>
          <a:p>
            <a:r>
              <a:rPr lang="en-US" dirty="0"/>
              <a:t>Rather, it is about having the execution time (i.e., number of operations, crudely) being the same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D0A032A-BADD-6098-3300-3080E6749ABB}"/>
              </a:ext>
            </a:extLst>
          </p:cNvPr>
          <p:cNvCxnSpPr>
            <a:cxnSpLocks/>
          </p:cNvCxnSpPr>
          <p:nvPr/>
        </p:nvCxnSpPr>
        <p:spPr>
          <a:xfrm>
            <a:off x="4587718" y="269608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65BAB51-B810-EC33-BB2A-55B9A6F6FAA9}"/>
              </a:ext>
            </a:extLst>
          </p:cNvPr>
          <p:cNvSpPr txBox="1"/>
          <p:nvPr/>
        </p:nvSpPr>
        <p:spPr>
          <a:xfrm>
            <a:off x="128286" y="111380"/>
            <a:ext cx="3040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cyan arrow is now a process, not a thread.</a:t>
            </a:r>
          </a:p>
        </p:txBody>
      </p:sp>
    </p:spTree>
    <p:extLst>
      <p:ext uri="{BB962C8B-B14F-4D97-AF65-F5344CB8AC3E}">
        <p14:creationId xmlns:p14="http://schemas.microsoft.com/office/powerpoint/2010/main" val="608232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148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16</cp:revision>
  <dcterms:created xsi:type="dcterms:W3CDTF">2025-02-25T19:42:40Z</dcterms:created>
  <dcterms:modified xsi:type="dcterms:W3CDTF">2025-09-29T13:51:07Z</dcterms:modified>
</cp:coreProperties>
</file>
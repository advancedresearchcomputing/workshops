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7942"/>
    <a:srgbClr val="FF40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5277-3B33-5544-DD6A-D7D0C9F32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D2A71-CF48-D587-4907-EB6530750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8DA6A-5331-9CD4-A462-4D3516CC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91BA9-EC77-3B97-DC98-CD6C0F54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9CD88-872B-4D50-25D7-904A1672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4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B6AA-8251-B9BE-2E15-030079C4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F5BFF-72D9-ED11-7701-6F3C9AC4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241B8-2100-0080-919F-A58B4C31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18771-EC49-6267-83CC-EC96C92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D782-7913-8BEF-06C5-65018CCA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7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35AE-6020-8146-D876-E063FFFA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D459A-C4DA-D50C-8F5F-A00315B7D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7236F-F836-BF98-F6AD-85AE48BF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4FEA-5A26-5A31-81C3-051DFD4E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6159D-ACD9-CCB8-6F9D-76D8275A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0D13-3D93-3C7E-D8EA-4107B2B0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F652F-6611-3655-1915-2081BF891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1F110-7444-25C2-A67F-A3C872224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CBC40-B32E-DDDA-24D3-ADAC14FC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58C65-49F7-6997-5BA0-EA276860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088AA-87AE-2D64-B05A-C11BFECA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7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630F-A8EA-3B4D-61A4-71B85703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AFAA9-FB61-215D-5264-7511CB143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5DE95-8607-7A32-6EF9-73D369102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9151C-2CDA-0323-C3F4-190BF4C0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2A236-CF11-B3F9-A5B3-8716AF94F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799EC-F91A-23A1-FAA8-1EA47674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70E6A-E0DA-CB6D-6E15-DB0509F4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B37CB-43B8-C120-6E8A-0ED2BF1C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4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FE83-9211-5ADB-500D-CB2905DD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F3BFB-58A4-0659-7CCA-50600A33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41DBD-50BE-05BA-B3C1-238A70C3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ED532-3A32-57F1-B747-0F8623EC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86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5D9F2D-FBF2-32BB-576B-B4374940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03E67-823A-351E-1096-43D243BD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96EEF-E2A9-0B9C-846D-33EF7486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7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C2DA-8D9B-63A0-C4D5-383BAA03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29FE-29A7-7216-6BDA-F0A41543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239A8-16C0-EBFE-2527-F10111CC6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6E1D9-C76B-2A18-7FF8-C017D4E3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177BB-F437-0EB1-C70D-2A6EB66A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9B9F-FFDC-3FE1-35CA-00377F1D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A888-FB9D-097D-EE87-6260FA4F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4D98-40D8-76AF-DC5C-034D5FB1E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E796E-B1C0-14B7-81A7-1A42DBF4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B13-B5FA-388D-6505-DF116D71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5BEAB-8D01-1651-D8D8-006F3C0A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A1C22-9E0A-E20C-C7C7-CC08E7ED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8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D9A5-F60E-6F1F-2880-4F2B76FD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8FABE-9CEC-AC38-43C6-2589723AF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97479-9B1E-DAC1-4BDA-0EDA2BE4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BC825-6BCE-2DB8-14E5-0E09CE899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936F0-6E30-0F07-EA4E-073A3535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1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B4E9C-271D-4EA7-6CBC-A520FD23D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FB502-5F4D-D6F3-3EF8-0A2199493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00DE5-4CE8-9B75-C448-253B4AAE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99D63-9DA2-109D-C116-BF47DEC7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F398C-F2C9-775F-CBEB-F1915646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0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B1B1D-C231-98F3-83AD-7370CBE9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8E2FB-4422-BE23-4E16-286B811AF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4263B-EAF4-8034-76AD-C72F7DECA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CE271-055D-B440-B801-1F5F28A2B76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24BFD-AC33-7F1A-E405-D1B127AD1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7A528-CA5C-04E6-B6C4-47B72A1D1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49F79-A34F-1B45-BC32-B54E498C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854162-BE80-C6ED-9069-5BE2FD0C7F17}"/>
              </a:ext>
            </a:extLst>
          </p:cNvPr>
          <p:cNvSpPr/>
          <p:nvPr/>
        </p:nvSpPr>
        <p:spPr>
          <a:xfrm>
            <a:off x="925414" y="1255923"/>
            <a:ext cx="1597446" cy="11347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Understand your computations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3658DE-F271-DDDC-F4AF-CB87B8962014}"/>
              </a:ext>
            </a:extLst>
          </p:cNvPr>
          <p:cNvSpPr/>
          <p:nvPr/>
        </p:nvSpPr>
        <p:spPr>
          <a:xfrm>
            <a:off x="925414" y="2861631"/>
            <a:ext cx="1597446" cy="113473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Specify computing 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227BF-CDB7-1143-9141-620C434F5335}"/>
              </a:ext>
            </a:extLst>
          </p:cNvPr>
          <p:cNvSpPr txBox="1"/>
          <p:nvPr/>
        </p:nvSpPr>
        <p:spPr>
          <a:xfrm>
            <a:off x="2809299" y="2861631"/>
            <a:ext cx="36956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nodes:  number and type;</a:t>
            </a:r>
          </a:p>
          <a:p>
            <a:r>
              <a:rPr lang="en-US" dirty="0"/>
              <a:t>num CPUs;</a:t>
            </a:r>
          </a:p>
          <a:p>
            <a:r>
              <a:rPr lang="en-US" dirty="0"/>
              <a:t>num GPUs;</a:t>
            </a:r>
          </a:p>
          <a:p>
            <a:r>
              <a:rPr lang="en-US" dirty="0"/>
              <a:t>amount of memory; type of storage.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73C60-E108-4E95-D466-372C0A10A7FA}"/>
              </a:ext>
            </a:extLst>
          </p:cNvPr>
          <p:cNvSpPr txBox="1"/>
          <p:nvPr/>
        </p:nvSpPr>
        <p:spPr>
          <a:xfrm>
            <a:off x="2809299" y="1355076"/>
            <a:ext cx="2853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operations?</a:t>
            </a:r>
          </a:p>
          <a:p>
            <a:r>
              <a:rPr lang="en-US" dirty="0"/>
              <a:t>How are they implemented/executed?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3FD59-010D-2E4A-A844-29B2B6C9787B}"/>
              </a:ext>
            </a:extLst>
          </p:cNvPr>
          <p:cNvSpPr/>
          <p:nvPr/>
        </p:nvSpPr>
        <p:spPr>
          <a:xfrm>
            <a:off x="925414" y="4467340"/>
            <a:ext cx="1597446" cy="11347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Compose and submit Slurm </a:t>
            </a:r>
            <a:r>
              <a:rPr lang="en-US" dirty="0" err="1">
                <a:solidFill>
                  <a:schemeClr val="tx1"/>
                </a:solidFill>
              </a:rPr>
              <a:t>sbatch</a:t>
            </a:r>
            <a:r>
              <a:rPr lang="en-US" dirty="0">
                <a:solidFill>
                  <a:schemeClr val="tx1"/>
                </a:solidFill>
              </a:rPr>
              <a:t> 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7E402-39E0-DDDF-1414-8A9B79DA4F50}"/>
              </a:ext>
            </a:extLst>
          </p:cNvPr>
          <p:cNvSpPr txBox="1"/>
          <p:nvPr/>
        </p:nvSpPr>
        <p:spPr>
          <a:xfrm>
            <a:off x="2809299" y="4423272"/>
            <a:ext cx="3558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Tell cluster the resources you need, and for how long; computing environment; code invocation.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B2F81F-61F0-66DA-1BD4-3F212754775C}"/>
              </a:ext>
            </a:extLst>
          </p:cNvPr>
          <p:cNvSpPr/>
          <p:nvPr/>
        </p:nvSpPr>
        <p:spPr>
          <a:xfrm>
            <a:off x="782194" y="5902287"/>
            <a:ext cx="1883885" cy="707834"/>
          </a:xfrm>
          <a:prstGeom prst="ellipse">
            <a:avLst/>
          </a:prstGeom>
          <a:solidFill>
            <a:srgbClr val="FF9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starts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A05BA-A551-FCC8-C6FF-88E038E8CDE6}"/>
              </a:ext>
            </a:extLst>
          </p:cNvPr>
          <p:cNvSpPr/>
          <p:nvPr/>
        </p:nvSpPr>
        <p:spPr>
          <a:xfrm>
            <a:off x="6608295" y="1254085"/>
            <a:ext cx="1597446" cy="1134737"/>
          </a:xfrm>
          <a:prstGeom prst="rect">
            <a:avLst/>
          </a:prstGeom>
          <a:solidFill>
            <a:srgbClr val="FF40FF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Monitor/ inspect running job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71AD42-8828-A33A-D8F6-F38F8051F619}"/>
              </a:ext>
            </a:extLst>
          </p:cNvPr>
          <p:cNvSpPr/>
          <p:nvPr/>
        </p:nvSpPr>
        <p:spPr>
          <a:xfrm>
            <a:off x="6608295" y="2859793"/>
            <a:ext cx="1597446" cy="1134737"/>
          </a:xfrm>
          <a:prstGeom prst="rect">
            <a:avLst/>
          </a:prstGeom>
          <a:solidFill>
            <a:srgbClr val="FF40FF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Monitor/ inspect running job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9360A-1A88-FE63-7BBE-8D5EE5916F44}"/>
              </a:ext>
            </a:extLst>
          </p:cNvPr>
          <p:cNvSpPr txBox="1"/>
          <p:nvPr/>
        </p:nvSpPr>
        <p:spPr>
          <a:xfrm>
            <a:off x="8492180" y="2848776"/>
            <a:ext cx="3699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You should be using Grafana dashboard and commands to inspect EACH job at least THREE times a day.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3C339-819F-AE2D-F748-79D7DB185732}"/>
              </a:ext>
            </a:extLst>
          </p:cNvPr>
          <p:cNvSpPr txBox="1"/>
          <p:nvPr/>
        </p:nvSpPr>
        <p:spPr>
          <a:xfrm>
            <a:off x="8492180" y="1221034"/>
            <a:ext cx="3695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all resources being used?  All of the time?  If not, why not?  Can we increase resource utilization?  Can we reduce resources?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2A3814-78E8-C175-59E7-8FE1EEA9357D}"/>
              </a:ext>
            </a:extLst>
          </p:cNvPr>
          <p:cNvSpPr/>
          <p:nvPr/>
        </p:nvSpPr>
        <p:spPr>
          <a:xfrm>
            <a:off x="6608295" y="4465502"/>
            <a:ext cx="1597446" cy="1134737"/>
          </a:xfrm>
          <a:prstGeom prst="rect">
            <a:avLst/>
          </a:prstGeom>
          <a:solidFill>
            <a:srgbClr val="AB794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Inspect end-of-job resources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14FB8D-A3FF-0044-A4FB-AB68FDEAAB6F}"/>
              </a:ext>
            </a:extLst>
          </p:cNvPr>
          <p:cNvSpPr txBox="1"/>
          <p:nvPr/>
        </p:nvSpPr>
        <p:spPr>
          <a:xfrm>
            <a:off x="8492180" y="4597706"/>
            <a:ext cx="3558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look at CPU and memory utilization over the entire job.  Not so much GPUs.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9E0EEC-E9DA-02A4-9BB8-3BAD24ACF48E}"/>
              </a:ext>
            </a:extLst>
          </p:cNvPr>
          <p:cNvSpPr/>
          <p:nvPr/>
        </p:nvSpPr>
        <p:spPr>
          <a:xfrm>
            <a:off x="158358" y="1529048"/>
            <a:ext cx="588486" cy="588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61FCD4-7DB7-B259-807F-C17625BAEB63}"/>
              </a:ext>
            </a:extLst>
          </p:cNvPr>
          <p:cNvSpPr/>
          <p:nvPr/>
        </p:nvSpPr>
        <p:spPr>
          <a:xfrm>
            <a:off x="158358" y="3036523"/>
            <a:ext cx="588486" cy="588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CF7C62-DF17-B811-1E64-12B0E5D47DA5}"/>
              </a:ext>
            </a:extLst>
          </p:cNvPr>
          <p:cNvSpPr/>
          <p:nvPr/>
        </p:nvSpPr>
        <p:spPr>
          <a:xfrm>
            <a:off x="158358" y="4740467"/>
            <a:ext cx="588486" cy="588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767C131-B717-E560-6CCE-4A3E16AF9F55}"/>
              </a:ext>
            </a:extLst>
          </p:cNvPr>
          <p:cNvSpPr/>
          <p:nvPr/>
        </p:nvSpPr>
        <p:spPr>
          <a:xfrm>
            <a:off x="5940848" y="1529048"/>
            <a:ext cx="588486" cy="588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08FB42-A7F5-7D6F-A412-FCE3B9CB11FB}"/>
              </a:ext>
            </a:extLst>
          </p:cNvPr>
          <p:cNvSpPr/>
          <p:nvPr/>
        </p:nvSpPr>
        <p:spPr>
          <a:xfrm>
            <a:off x="5882998" y="3036523"/>
            <a:ext cx="588486" cy="588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E5CB14-C73B-C228-9AD9-2C5F56C14145}"/>
              </a:ext>
            </a:extLst>
          </p:cNvPr>
          <p:cNvSpPr/>
          <p:nvPr/>
        </p:nvSpPr>
        <p:spPr>
          <a:xfrm>
            <a:off x="5882998" y="4740467"/>
            <a:ext cx="588486" cy="588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EC86D7-BF2F-394C-1064-719387670811}"/>
              </a:ext>
            </a:extLst>
          </p:cNvPr>
          <p:cNvSpPr/>
          <p:nvPr/>
        </p:nvSpPr>
        <p:spPr>
          <a:xfrm>
            <a:off x="6465075" y="5902287"/>
            <a:ext cx="1883885" cy="707834"/>
          </a:xfrm>
          <a:prstGeom prst="ellipse">
            <a:avLst/>
          </a:prstGeom>
          <a:solidFill>
            <a:srgbClr val="FF9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5D3B88-BBE5-C0CD-C45C-B8E1B72E90BC}"/>
              </a:ext>
            </a:extLst>
          </p:cNvPr>
          <p:cNvSpPr txBox="1"/>
          <p:nvPr/>
        </p:nvSpPr>
        <p:spPr>
          <a:xfrm>
            <a:off x="4269033" y="142525"/>
            <a:ext cx="3982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omic Sans MS" panose="030F0902030302020204" pitchFamily="66" charset="0"/>
              </a:rPr>
              <a:t>Job Life Cycle</a:t>
            </a:r>
          </a:p>
        </p:txBody>
      </p:sp>
    </p:spTree>
    <p:extLst>
      <p:ext uri="{BB962C8B-B14F-4D97-AF65-F5344CB8AC3E}">
        <p14:creationId xmlns:p14="http://schemas.microsoft.com/office/powerpoint/2010/main" val="2793533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153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3</cp:revision>
  <dcterms:created xsi:type="dcterms:W3CDTF">2026-09-24T16:46:38Z</dcterms:created>
  <dcterms:modified xsi:type="dcterms:W3CDTF">2026-09-24T17:38:41Z</dcterms:modified>
</cp:coreProperties>
</file>
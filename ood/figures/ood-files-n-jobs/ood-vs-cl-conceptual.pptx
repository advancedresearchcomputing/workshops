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E4714-B623-2F99-3894-DDBD182867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543E43-732E-5380-86A2-AECCB8908F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DCEDC-CFFB-D9F2-966B-49F2A6E54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FBEC-5AE2-1649-BF97-F3BE61CD917D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AC3B8-BD19-EDAC-3C41-507E33F18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69F18-D114-D392-9E14-E6253D09C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FC25-97EB-954C-AD1E-663CBC991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037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86C75-04EE-DC32-076C-B096455CB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2D5A2-9BB5-B89F-896E-584E69037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36293-9520-29F5-2BF7-9A5311897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FBEC-5AE2-1649-BF97-F3BE61CD917D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515D3-7834-404C-AA16-762E5BE20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5610F-4C4C-DC78-3616-56B428A13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FC25-97EB-954C-AD1E-663CBC991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231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DFC23-0B09-C1C3-1863-4E995BAE2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34C88-B6B6-D574-9B38-747C6F4D3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E8C96-BAB2-8892-A6D0-39A142EF9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FBEC-5AE2-1649-BF97-F3BE61CD917D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BFD0C-F76E-B1AB-14F2-656CFE1A2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64B24-BECA-A7FC-2339-2B40F7C0E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FC25-97EB-954C-AD1E-663CBC991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10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DED16-F156-28D7-B4A2-86BF769B7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91B97-F44F-4904-AF0D-6C2D7EE6E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B432F0-D18A-6AD8-AB90-27F9AFCD0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9B846E-1D2C-D6EB-178C-5DB3658D0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FBEC-5AE2-1649-BF97-F3BE61CD917D}" type="datetimeFigureOut">
              <a:rPr lang="en-US" smtClean="0"/>
              <a:t>3/6/25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9AB93-EFFE-87E2-3B09-57B238848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D06FE-F5B2-1DED-6E73-BBFB05FC0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FC25-97EB-954C-AD1E-663CBC991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573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31562-68F1-9E83-B575-BC414A465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B0FD8-2473-8CA9-2017-7E1FCB1DB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E947A1-C713-E6EC-D815-C343B9C103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CC8E84-2B21-6CC3-06A0-DB3EBAEB16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CF32FF-916D-04F4-B1FB-96700C6557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FFFBC9-D7E4-EE1D-E5D3-0887D8E0A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FBEC-5AE2-1649-BF97-F3BE61CD917D}" type="datetimeFigureOut">
              <a:rPr lang="en-US" smtClean="0"/>
              <a:t>3/6/25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907668-D23C-C97D-3F6B-B48EB1EA1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C4123B-B124-F23D-1B74-A399F0826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FC25-97EB-954C-AD1E-663CBC991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90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722DE-9FE3-69CC-501F-BA1908354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3557AD-B364-CB54-0E21-1B8A04E7D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FBEC-5AE2-1649-BF97-F3BE61CD917D}" type="datetimeFigureOut">
              <a:rPr lang="en-US" smtClean="0"/>
              <a:t>3/6/25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92F6C2-C9D0-17C2-77DF-967A7DC0C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6F9BF5-D2EC-6580-9124-DD53719F0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FC25-97EB-954C-AD1E-663CBC991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879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561E84-0688-6C09-DCE0-CD63E9B6B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FBEC-5AE2-1649-BF97-F3BE61CD917D}" type="datetimeFigureOut">
              <a:rPr lang="en-US" smtClean="0"/>
              <a:t>3/6/25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041524-9708-3B2F-5944-8E973ABFF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511C9-4512-720C-9CF3-C71295BCF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FC25-97EB-954C-AD1E-663CBC991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497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F0F6-7B89-71D6-ADCA-223E284F9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793E6-CCD6-7BBF-DEE3-1CCE26DD3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ABE0C-0529-898D-82F9-768EE318A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1C17A4-D61F-0862-80E5-EDC446A77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FBEC-5AE2-1649-BF97-F3BE61CD917D}" type="datetimeFigureOut">
              <a:rPr lang="en-US" smtClean="0"/>
              <a:t>3/6/25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0B3C3-DF4A-FA48-6672-CD15B1AB3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6ECD95-F335-80EB-309F-CBAD51429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FC25-97EB-954C-AD1E-663CBC991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284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27811-9F46-182D-4E01-765C72C6F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AD657D-38F8-8612-1A57-CA92917FC8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B6301-FBCB-8CF7-634D-582CBDE799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5B54EA-45F3-4EEF-DF03-D3E1DA6AE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FBEC-5AE2-1649-BF97-F3BE61CD917D}" type="datetimeFigureOut">
              <a:rPr lang="en-US" smtClean="0"/>
              <a:t>3/6/25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E5D9E-6FB3-383F-4851-4E58C0786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B1BC5E-B3D5-5C35-C67F-2B7DC1637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FC25-97EB-954C-AD1E-663CBC991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03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8D0D0-6655-02B0-5FE4-072ECB030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EB6F92-786C-63F9-8D2A-D474C1452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73F6D-AAE3-0295-1B4F-D70AD5E18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FBEC-5AE2-1649-BF97-F3BE61CD917D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FDC48-8E79-6BD0-D707-F4C38D7B8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77513-A64C-6D56-D5E2-68749FB74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FC25-97EB-954C-AD1E-663CBC991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38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F85EBC-AEAC-EA4F-43F1-CAAC07A275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54410E-5ACF-5E04-468B-CBDB2EF288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9BBE7-3F2B-8BF4-B7F4-D59DF40A3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FBEC-5AE2-1649-BF97-F3BE61CD917D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24B40-2244-A2B8-4704-2DDADFFFC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408DB-9D66-B5F9-FA92-1C21FBDF6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FC25-97EB-954C-AD1E-663CBC991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24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F6FA48-0373-A431-357D-03DCA5233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5D833-6396-6377-69E6-55BDC3088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EDFC0-744C-574E-FC24-CAB097AD2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3BFBEC-5AE2-1649-BF97-F3BE61CD917D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E3FF0-2F76-5636-FEBF-9449D2664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AB8D7-4DC6-EEA6-1540-1AD359540E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C6FC25-97EB-954C-AD1E-663CBC991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356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89F46-17F6-9531-8C73-1E157B920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Oval 100">
            <a:extLst>
              <a:ext uri="{FF2B5EF4-FFF2-40B4-BE49-F238E27FC236}">
                <a16:creationId xmlns:a16="http://schemas.microsoft.com/office/drawing/2014/main" id="{4BB88068-8F4A-F649-BF73-0552CB38897B}"/>
              </a:ext>
            </a:extLst>
          </p:cNvPr>
          <p:cNvSpPr/>
          <p:nvPr/>
        </p:nvSpPr>
        <p:spPr>
          <a:xfrm>
            <a:off x="5232628" y="4445543"/>
            <a:ext cx="1944729" cy="194472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Google Shape;242;g2baceab7d03_0_22">
            <a:extLst>
              <a:ext uri="{FF2B5EF4-FFF2-40B4-BE49-F238E27FC236}">
                <a16:creationId xmlns:a16="http://schemas.microsoft.com/office/drawing/2014/main" id="{5A4ED381-2C4F-84EA-ED35-C77D7833ECE3}"/>
              </a:ext>
            </a:extLst>
          </p:cNvPr>
          <p:cNvSpPr txBox="1"/>
          <p:nvPr/>
        </p:nvSpPr>
        <p:spPr>
          <a:xfrm>
            <a:off x="2448717" y="540970"/>
            <a:ext cx="5133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1" dirty="0">
                <a:latin typeface="Calibri"/>
                <a:ea typeface="Calibri"/>
                <a:cs typeface="Calibri"/>
                <a:sym typeface="Calibri"/>
              </a:rPr>
              <a:t>Working with ARC Clusters from Command Line</a:t>
            </a:r>
          </a:p>
        </p:txBody>
      </p:sp>
      <p:grpSp>
        <p:nvGrpSpPr>
          <p:cNvPr id="53" name="Google Shape;266;g2baceab7d03_0_57">
            <a:extLst>
              <a:ext uri="{FF2B5EF4-FFF2-40B4-BE49-F238E27FC236}">
                <a16:creationId xmlns:a16="http://schemas.microsoft.com/office/drawing/2014/main" id="{9E7DE20A-6B3F-155E-238E-FB8EF8B6FCEC}"/>
              </a:ext>
            </a:extLst>
          </p:cNvPr>
          <p:cNvGrpSpPr/>
          <p:nvPr/>
        </p:nvGrpSpPr>
        <p:grpSpPr>
          <a:xfrm>
            <a:off x="3387939" y="2210056"/>
            <a:ext cx="553000" cy="647625"/>
            <a:chOff x="221775" y="2644700"/>
            <a:chExt cx="553000" cy="647625"/>
          </a:xfrm>
        </p:grpSpPr>
        <p:sp>
          <p:nvSpPr>
            <p:cNvPr id="54" name="Google Shape;267;g2baceab7d03_0_57">
              <a:extLst>
                <a:ext uri="{FF2B5EF4-FFF2-40B4-BE49-F238E27FC236}">
                  <a16:creationId xmlns:a16="http://schemas.microsoft.com/office/drawing/2014/main" id="{51B6A7C0-6B45-2100-D76C-EC8AC667353D}"/>
                </a:ext>
              </a:extLst>
            </p:cNvPr>
            <p:cNvSpPr/>
            <p:nvPr/>
          </p:nvSpPr>
          <p:spPr>
            <a:xfrm>
              <a:off x="419500" y="2644700"/>
              <a:ext cx="155100" cy="155100"/>
            </a:xfrm>
            <a:prstGeom prst="ellipse">
              <a:avLst/>
            </a:prstGeom>
            <a:solidFill>
              <a:schemeClr val="lt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5" name="Google Shape;268;g2baceab7d03_0_57">
              <a:extLst>
                <a:ext uri="{FF2B5EF4-FFF2-40B4-BE49-F238E27FC236}">
                  <a16:creationId xmlns:a16="http://schemas.microsoft.com/office/drawing/2014/main" id="{C0BAF5CA-FA5B-238C-3B53-EC7BE4AFB52F}"/>
                </a:ext>
              </a:extLst>
            </p:cNvPr>
            <p:cNvCxnSpPr>
              <a:cxnSpLocks/>
              <a:stCxn id="54" idx="4"/>
            </p:cNvCxnSpPr>
            <p:nvPr/>
          </p:nvCxnSpPr>
          <p:spPr>
            <a:xfrm>
              <a:off x="497050" y="2799800"/>
              <a:ext cx="0" cy="246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" name="Google Shape;269;g2baceab7d03_0_57">
              <a:extLst>
                <a:ext uri="{FF2B5EF4-FFF2-40B4-BE49-F238E27FC236}">
                  <a16:creationId xmlns:a16="http://schemas.microsoft.com/office/drawing/2014/main" id="{9C697669-B01B-13ED-73D8-892A3A2A8380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501175" y="2702175"/>
              <a:ext cx="273600" cy="191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" name="Google Shape;270;g2baceab7d03_0_57">
              <a:extLst>
                <a:ext uri="{FF2B5EF4-FFF2-40B4-BE49-F238E27FC236}">
                  <a16:creationId xmlns:a16="http://schemas.microsoft.com/office/drawing/2014/main" id="{5B9595D7-221C-D708-C42E-0003A0E827F9}"/>
                </a:ext>
              </a:extLst>
            </p:cNvPr>
            <p:cNvCxnSpPr>
              <a:cxnSpLocks/>
            </p:cNvCxnSpPr>
            <p:nvPr/>
          </p:nvCxnSpPr>
          <p:spPr>
            <a:xfrm>
              <a:off x="221775" y="2702175"/>
              <a:ext cx="273600" cy="191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271;g2baceab7d03_0_57">
              <a:extLst>
                <a:ext uri="{FF2B5EF4-FFF2-40B4-BE49-F238E27FC236}">
                  <a16:creationId xmlns:a16="http://schemas.microsoft.com/office/drawing/2014/main" id="{AD67A806-B4DB-0E4F-0292-11E1A94AE02E}"/>
                </a:ext>
              </a:extLst>
            </p:cNvPr>
            <p:cNvCxnSpPr>
              <a:cxnSpLocks/>
            </p:cNvCxnSpPr>
            <p:nvPr/>
          </p:nvCxnSpPr>
          <p:spPr>
            <a:xfrm>
              <a:off x="497995" y="3027725"/>
              <a:ext cx="191400" cy="264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272;g2baceab7d03_0_57">
              <a:extLst>
                <a:ext uri="{FF2B5EF4-FFF2-40B4-BE49-F238E27FC236}">
                  <a16:creationId xmlns:a16="http://schemas.microsoft.com/office/drawing/2014/main" id="{58F1E618-A9F7-5655-6A29-FF1C70EDAE98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303509" y="3027725"/>
              <a:ext cx="191400" cy="264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6" name="Google Shape;242;g2baceab7d03_0_22">
            <a:extLst>
              <a:ext uri="{FF2B5EF4-FFF2-40B4-BE49-F238E27FC236}">
                <a16:creationId xmlns:a16="http://schemas.microsoft.com/office/drawing/2014/main" id="{DD06D030-D88C-FA04-882F-378F8BA1F9F5}"/>
              </a:ext>
            </a:extLst>
          </p:cNvPr>
          <p:cNvSpPr txBox="1"/>
          <p:nvPr/>
        </p:nvSpPr>
        <p:spPr>
          <a:xfrm>
            <a:off x="2448717" y="3601670"/>
            <a:ext cx="5133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1" dirty="0">
                <a:latin typeface="Calibri"/>
                <a:ea typeface="Calibri"/>
                <a:cs typeface="Calibri"/>
                <a:sym typeface="Calibri"/>
              </a:rPr>
              <a:t>Working with ARC Clusters via Open OnDemand (OOD)</a:t>
            </a:r>
          </a:p>
        </p:txBody>
      </p:sp>
      <p:sp>
        <p:nvSpPr>
          <p:cNvPr id="95" name="Google Shape;224;g2baceab7d03_0_22">
            <a:extLst>
              <a:ext uri="{FF2B5EF4-FFF2-40B4-BE49-F238E27FC236}">
                <a16:creationId xmlns:a16="http://schemas.microsoft.com/office/drawing/2014/main" id="{528F29FD-41C0-4BE9-952B-5AB46248F10A}"/>
              </a:ext>
            </a:extLst>
          </p:cNvPr>
          <p:cNvSpPr txBox="1"/>
          <p:nvPr/>
        </p:nvSpPr>
        <p:spPr>
          <a:xfrm>
            <a:off x="4693174" y="1982876"/>
            <a:ext cx="499790" cy="384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ssh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FFAAF09-D511-A9C6-857A-7261CCF1A036}"/>
              </a:ext>
            </a:extLst>
          </p:cNvPr>
          <p:cNvSpPr/>
          <p:nvPr/>
        </p:nvSpPr>
        <p:spPr>
          <a:xfrm>
            <a:off x="5227178" y="1652398"/>
            <a:ext cx="1303992" cy="1303992"/>
          </a:xfrm>
          <a:prstGeom prst="ellipse">
            <a:avLst/>
          </a:prstGeom>
          <a:solidFill>
            <a:srgbClr val="FF4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ARC cluster</a:t>
            </a:r>
          </a:p>
        </p:txBody>
      </p:sp>
      <p:cxnSp>
        <p:nvCxnSpPr>
          <p:cNvPr id="24" name="Google Shape;241;g2baceab7d03_0_22">
            <a:extLst>
              <a:ext uri="{FF2B5EF4-FFF2-40B4-BE49-F238E27FC236}">
                <a16:creationId xmlns:a16="http://schemas.microsoft.com/office/drawing/2014/main" id="{FB757D28-7D59-F495-2F9C-1179B6110BFC}"/>
              </a:ext>
            </a:extLst>
          </p:cNvPr>
          <p:cNvCxnSpPr>
            <a:cxnSpLocks/>
            <a:stCxn id="28" idx="3"/>
            <a:endCxn id="23" idx="2"/>
          </p:cNvCxnSpPr>
          <p:nvPr/>
        </p:nvCxnSpPr>
        <p:spPr>
          <a:xfrm>
            <a:off x="4668296" y="2301915"/>
            <a:ext cx="558882" cy="247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F3747E0-3A21-0207-CA46-B4B5F90A6575}"/>
              </a:ext>
            </a:extLst>
          </p:cNvPr>
          <p:cNvGrpSpPr/>
          <p:nvPr/>
        </p:nvGrpSpPr>
        <p:grpSpPr>
          <a:xfrm>
            <a:off x="3981718" y="2053041"/>
            <a:ext cx="903000" cy="911218"/>
            <a:chOff x="4544796" y="1580076"/>
            <a:chExt cx="903000" cy="911218"/>
          </a:xfrm>
        </p:grpSpPr>
        <p:sp>
          <p:nvSpPr>
            <p:cNvPr id="10" name="Google Shape;221;g2baceab7d03_0_22">
              <a:extLst>
                <a:ext uri="{FF2B5EF4-FFF2-40B4-BE49-F238E27FC236}">
                  <a16:creationId xmlns:a16="http://schemas.microsoft.com/office/drawing/2014/main" id="{B3BE5602-88C7-C83A-9224-3E3296B67AB4}"/>
                </a:ext>
              </a:extLst>
            </p:cNvPr>
            <p:cNvSpPr/>
            <p:nvPr/>
          </p:nvSpPr>
          <p:spPr>
            <a:xfrm>
              <a:off x="4544796" y="2117494"/>
              <a:ext cx="903000" cy="3738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latin typeface="Calibri"/>
                  <a:ea typeface="Calibri"/>
                  <a:cs typeface="Calibri"/>
                  <a:sym typeface="Calibri"/>
                </a:rPr>
                <a:t>laptop</a:t>
              </a:r>
              <a:endParaRPr sz="1300"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5968415-444D-5B75-F43B-D7592F29DF88}"/>
                </a:ext>
              </a:extLst>
            </p:cNvPr>
            <p:cNvGrpSpPr/>
            <p:nvPr/>
          </p:nvGrpSpPr>
          <p:grpSpPr>
            <a:xfrm>
              <a:off x="4761219" y="1580076"/>
              <a:ext cx="470155" cy="497748"/>
              <a:chOff x="3019831" y="5892700"/>
              <a:chExt cx="903000" cy="965300"/>
            </a:xfrm>
          </p:grpSpPr>
          <p:sp>
            <p:nvSpPr>
              <p:cNvPr id="28" name="Google Shape;221;g2baceab7d03_0_22">
                <a:extLst>
                  <a:ext uri="{FF2B5EF4-FFF2-40B4-BE49-F238E27FC236}">
                    <a16:creationId xmlns:a16="http://schemas.microsoft.com/office/drawing/2014/main" id="{B16AE908-43BA-88F3-23E6-7D4A2960EFA5}"/>
                  </a:ext>
                </a:extLst>
              </p:cNvPr>
              <p:cNvSpPr/>
              <p:nvPr/>
            </p:nvSpPr>
            <p:spPr>
              <a:xfrm>
                <a:off x="3019831" y="5892700"/>
                <a:ext cx="903000" cy="9653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0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257C6516-87E8-2C23-724A-35ADFE5ABFF5}"/>
                  </a:ext>
                </a:extLst>
              </p:cNvPr>
              <p:cNvSpPr/>
              <p:nvPr/>
            </p:nvSpPr>
            <p:spPr>
              <a:xfrm>
                <a:off x="3124200" y="6108700"/>
                <a:ext cx="647700" cy="64396"/>
              </a:xfrm>
              <a:custGeom>
                <a:avLst/>
                <a:gdLst>
                  <a:gd name="connsiteX0" fmla="*/ 0 w 647700"/>
                  <a:gd name="connsiteY0" fmla="*/ 25400 h 64396"/>
                  <a:gd name="connsiteX1" fmla="*/ 152400 w 647700"/>
                  <a:gd name="connsiteY1" fmla="*/ 50800 h 64396"/>
                  <a:gd name="connsiteX2" fmla="*/ 228600 w 647700"/>
                  <a:gd name="connsiteY2" fmla="*/ 0 h 64396"/>
                  <a:gd name="connsiteX3" fmla="*/ 304800 w 647700"/>
                  <a:gd name="connsiteY3" fmla="*/ 38100 h 64396"/>
                  <a:gd name="connsiteX4" fmla="*/ 342900 w 647700"/>
                  <a:gd name="connsiteY4" fmla="*/ 25400 h 64396"/>
                  <a:gd name="connsiteX5" fmla="*/ 495300 w 647700"/>
                  <a:gd name="connsiteY5" fmla="*/ 38100 h 64396"/>
                  <a:gd name="connsiteX6" fmla="*/ 533400 w 647700"/>
                  <a:gd name="connsiteY6" fmla="*/ 50800 h 64396"/>
                  <a:gd name="connsiteX7" fmla="*/ 647700 w 647700"/>
                  <a:gd name="connsiteY7" fmla="*/ 50800 h 643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7700" h="64396">
                    <a:moveTo>
                      <a:pt x="0" y="25400"/>
                    </a:moveTo>
                    <a:cubicBezTo>
                      <a:pt x="67794" y="54454"/>
                      <a:pt x="84701" y="81572"/>
                      <a:pt x="152400" y="50800"/>
                    </a:cubicBezTo>
                    <a:cubicBezTo>
                      <a:pt x="180191" y="38168"/>
                      <a:pt x="228600" y="0"/>
                      <a:pt x="228600" y="0"/>
                    </a:cubicBezTo>
                    <a:cubicBezTo>
                      <a:pt x="247863" y="12842"/>
                      <a:pt x="278510" y="38100"/>
                      <a:pt x="304800" y="38100"/>
                    </a:cubicBezTo>
                    <a:cubicBezTo>
                      <a:pt x="318187" y="38100"/>
                      <a:pt x="330200" y="29633"/>
                      <a:pt x="342900" y="25400"/>
                    </a:cubicBezTo>
                    <a:cubicBezTo>
                      <a:pt x="393700" y="29633"/>
                      <a:pt x="444771" y="31363"/>
                      <a:pt x="495300" y="38100"/>
                    </a:cubicBezTo>
                    <a:cubicBezTo>
                      <a:pt x="508570" y="39869"/>
                      <a:pt x="520059" y="49688"/>
                      <a:pt x="533400" y="50800"/>
                    </a:cubicBezTo>
                    <a:cubicBezTo>
                      <a:pt x="571368" y="53964"/>
                      <a:pt x="609600" y="50800"/>
                      <a:pt x="647700" y="5080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5F1CBED9-FD5D-067D-277F-B96D9CAB21C8}"/>
                  </a:ext>
                </a:extLst>
              </p:cNvPr>
              <p:cNvSpPr/>
              <p:nvPr/>
            </p:nvSpPr>
            <p:spPr>
              <a:xfrm>
                <a:off x="3149600" y="6299200"/>
                <a:ext cx="660400" cy="167492"/>
              </a:xfrm>
              <a:custGeom>
                <a:avLst/>
                <a:gdLst>
                  <a:gd name="connsiteX0" fmla="*/ 0 w 660400"/>
                  <a:gd name="connsiteY0" fmla="*/ 101600 h 167492"/>
                  <a:gd name="connsiteX1" fmla="*/ 88900 w 660400"/>
                  <a:gd name="connsiteY1" fmla="*/ 38100 h 167492"/>
                  <a:gd name="connsiteX2" fmla="*/ 127000 w 660400"/>
                  <a:gd name="connsiteY2" fmla="*/ 25400 h 167492"/>
                  <a:gd name="connsiteX3" fmla="*/ 165100 w 660400"/>
                  <a:gd name="connsiteY3" fmla="*/ 0 h 167492"/>
                  <a:gd name="connsiteX4" fmla="*/ 177800 w 660400"/>
                  <a:gd name="connsiteY4" fmla="*/ 38100 h 167492"/>
                  <a:gd name="connsiteX5" fmla="*/ 228600 w 660400"/>
                  <a:gd name="connsiteY5" fmla="*/ 50800 h 167492"/>
                  <a:gd name="connsiteX6" fmla="*/ 266700 w 660400"/>
                  <a:gd name="connsiteY6" fmla="*/ 76200 h 167492"/>
                  <a:gd name="connsiteX7" fmla="*/ 279400 w 660400"/>
                  <a:gd name="connsiteY7" fmla="*/ 114300 h 167492"/>
                  <a:gd name="connsiteX8" fmla="*/ 292100 w 660400"/>
                  <a:gd name="connsiteY8" fmla="*/ 165100 h 167492"/>
                  <a:gd name="connsiteX9" fmla="*/ 330200 w 660400"/>
                  <a:gd name="connsiteY9" fmla="*/ 152400 h 167492"/>
                  <a:gd name="connsiteX10" fmla="*/ 444500 w 660400"/>
                  <a:gd name="connsiteY10" fmla="*/ 76200 h 167492"/>
                  <a:gd name="connsiteX11" fmla="*/ 482600 w 660400"/>
                  <a:gd name="connsiteY11" fmla="*/ 50800 h 167492"/>
                  <a:gd name="connsiteX12" fmla="*/ 520700 w 660400"/>
                  <a:gd name="connsiteY12" fmla="*/ 25400 h 167492"/>
                  <a:gd name="connsiteX13" fmla="*/ 546100 w 660400"/>
                  <a:gd name="connsiteY13" fmla="*/ 76200 h 167492"/>
                  <a:gd name="connsiteX14" fmla="*/ 622300 w 660400"/>
                  <a:gd name="connsiteY14" fmla="*/ 50800 h 167492"/>
                  <a:gd name="connsiteX15" fmla="*/ 660400 w 660400"/>
                  <a:gd name="connsiteY15" fmla="*/ 25400 h 167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60400" h="167492">
                    <a:moveTo>
                      <a:pt x="0" y="101600"/>
                    </a:moveTo>
                    <a:cubicBezTo>
                      <a:pt x="29633" y="80433"/>
                      <a:pt x="57673" y="56836"/>
                      <a:pt x="88900" y="38100"/>
                    </a:cubicBezTo>
                    <a:cubicBezTo>
                      <a:pt x="100379" y="31212"/>
                      <a:pt x="115026" y="31387"/>
                      <a:pt x="127000" y="25400"/>
                    </a:cubicBezTo>
                    <a:cubicBezTo>
                      <a:pt x="140652" y="18574"/>
                      <a:pt x="152400" y="8467"/>
                      <a:pt x="165100" y="0"/>
                    </a:cubicBezTo>
                    <a:cubicBezTo>
                      <a:pt x="169333" y="12700"/>
                      <a:pt x="167347" y="29737"/>
                      <a:pt x="177800" y="38100"/>
                    </a:cubicBezTo>
                    <a:cubicBezTo>
                      <a:pt x="191430" y="49004"/>
                      <a:pt x="212557" y="43924"/>
                      <a:pt x="228600" y="50800"/>
                    </a:cubicBezTo>
                    <a:cubicBezTo>
                      <a:pt x="242629" y="56813"/>
                      <a:pt x="254000" y="67733"/>
                      <a:pt x="266700" y="76200"/>
                    </a:cubicBezTo>
                    <a:cubicBezTo>
                      <a:pt x="270933" y="88900"/>
                      <a:pt x="275722" y="101428"/>
                      <a:pt x="279400" y="114300"/>
                    </a:cubicBezTo>
                    <a:cubicBezTo>
                      <a:pt x="284195" y="131083"/>
                      <a:pt x="278136" y="154627"/>
                      <a:pt x="292100" y="165100"/>
                    </a:cubicBezTo>
                    <a:cubicBezTo>
                      <a:pt x="302810" y="173132"/>
                      <a:pt x="318498" y="158901"/>
                      <a:pt x="330200" y="152400"/>
                    </a:cubicBezTo>
                    <a:lnTo>
                      <a:pt x="444500" y="76200"/>
                    </a:lnTo>
                    <a:lnTo>
                      <a:pt x="482600" y="50800"/>
                    </a:lnTo>
                    <a:lnTo>
                      <a:pt x="520700" y="25400"/>
                    </a:lnTo>
                    <a:cubicBezTo>
                      <a:pt x="511582" y="52754"/>
                      <a:pt x="487485" y="82713"/>
                      <a:pt x="546100" y="76200"/>
                    </a:cubicBezTo>
                    <a:cubicBezTo>
                      <a:pt x="572710" y="73243"/>
                      <a:pt x="600023" y="65652"/>
                      <a:pt x="622300" y="50800"/>
                    </a:cubicBezTo>
                    <a:lnTo>
                      <a:pt x="660400" y="2540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EBB1200E-7CD7-E530-ABAA-0EECFA6B4E50}"/>
                  </a:ext>
                </a:extLst>
              </p:cNvPr>
              <p:cNvSpPr/>
              <p:nvPr/>
            </p:nvSpPr>
            <p:spPr>
              <a:xfrm>
                <a:off x="3124200" y="6604000"/>
                <a:ext cx="664050" cy="76200"/>
              </a:xfrm>
              <a:custGeom>
                <a:avLst/>
                <a:gdLst>
                  <a:gd name="connsiteX0" fmla="*/ 0 w 664050"/>
                  <a:gd name="connsiteY0" fmla="*/ 63500 h 76200"/>
                  <a:gd name="connsiteX1" fmla="*/ 88900 w 664050"/>
                  <a:gd name="connsiteY1" fmla="*/ 12700 h 76200"/>
                  <a:gd name="connsiteX2" fmla="*/ 127000 w 664050"/>
                  <a:gd name="connsiteY2" fmla="*/ 0 h 76200"/>
                  <a:gd name="connsiteX3" fmla="*/ 190500 w 664050"/>
                  <a:gd name="connsiteY3" fmla="*/ 12700 h 76200"/>
                  <a:gd name="connsiteX4" fmla="*/ 266700 w 664050"/>
                  <a:gd name="connsiteY4" fmla="*/ 50800 h 76200"/>
                  <a:gd name="connsiteX5" fmla="*/ 342900 w 664050"/>
                  <a:gd name="connsiteY5" fmla="*/ 76200 h 76200"/>
                  <a:gd name="connsiteX6" fmla="*/ 431800 w 664050"/>
                  <a:gd name="connsiteY6" fmla="*/ 50800 h 76200"/>
                  <a:gd name="connsiteX7" fmla="*/ 495300 w 664050"/>
                  <a:gd name="connsiteY7" fmla="*/ 0 h 76200"/>
                  <a:gd name="connsiteX8" fmla="*/ 609600 w 664050"/>
                  <a:gd name="connsiteY8" fmla="*/ 12700 h 76200"/>
                  <a:gd name="connsiteX9" fmla="*/ 660400 w 664050"/>
                  <a:gd name="connsiteY9" fmla="*/ 25400 h 76200"/>
                  <a:gd name="connsiteX10" fmla="*/ 660400 w 664050"/>
                  <a:gd name="connsiteY10" fmla="*/ 0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64050" h="76200">
                    <a:moveTo>
                      <a:pt x="0" y="63500"/>
                    </a:moveTo>
                    <a:cubicBezTo>
                      <a:pt x="29633" y="46567"/>
                      <a:pt x="58373" y="27964"/>
                      <a:pt x="88900" y="12700"/>
                    </a:cubicBezTo>
                    <a:cubicBezTo>
                      <a:pt x="100874" y="6713"/>
                      <a:pt x="113613" y="0"/>
                      <a:pt x="127000" y="0"/>
                    </a:cubicBezTo>
                    <a:cubicBezTo>
                      <a:pt x="148586" y="0"/>
                      <a:pt x="169559" y="7465"/>
                      <a:pt x="190500" y="12700"/>
                    </a:cubicBezTo>
                    <a:cubicBezTo>
                      <a:pt x="269900" y="32550"/>
                      <a:pt x="186882" y="15325"/>
                      <a:pt x="266700" y="50800"/>
                    </a:cubicBezTo>
                    <a:cubicBezTo>
                      <a:pt x="291166" y="61674"/>
                      <a:pt x="342900" y="76200"/>
                      <a:pt x="342900" y="76200"/>
                    </a:cubicBezTo>
                    <a:cubicBezTo>
                      <a:pt x="346219" y="75370"/>
                      <a:pt x="423518" y="57425"/>
                      <a:pt x="431800" y="50800"/>
                    </a:cubicBezTo>
                    <a:cubicBezTo>
                      <a:pt x="513864" y="-14852"/>
                      <a:pt x="399535" y="31922"/>
                      <a:pt x="495300" y="0"/>
                    </a:cubicBezTo>
                    <a:cubicBezTo>
                      <a:pt x="533400" y="4233"/>
                      <a:pt x="571711" y="6871"/>
                      <a:pt x="609600" y="12700"/>
                    </a:cubicBezTo>
                    <a:cubicBezTo>
                      <a:pt x="626852" y="15354"/>
                      <a:pt x="643467" y="29633"/>
                      <a:pt x="660400" y="25400"/>
                    </a:cubicBezTo>
                    <a:cubicBezTo>
                      <a:pt x="668614" y="23347"/>
                      <a:pt x="660400" y="8467"/>
                      <a:pt x="660400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4" name="Google Shape;224;g2baceab7d03_0_22">
            <a:extLst>
              <a:ext uri="{FF2B5EF4-FFF2-40B4-BE49-F238E27FC236}">
                <a16:creationId xmlns:a16="http://schemas.microsoft.com/office/drawing/2014/main" id="{4823B4AF-491D-F187-76FE-3DED585437D0}"/>
              </a:ext>
            </a:extLst>
          </p:cNvPr>
          <p:cNvSpPr txBox="1"/>
          <p:nvPr/>
        </p:nvSpPr>
        <p:spPr>
          <a:xfrm>
            <a:off x="3307728" y="1244693"/>
            <a:ext cx="936795" cy="58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terminal window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5517E8D5-C383-658E-7443-B59687F6B580}"/>
              </a:ext>
            </a:extLst>
          </p:cNvPr>
          <p:cNvCxnSpPr>
            <a:stCxn id="34" idx="3"/>
            <a:endCxn id="28" idx="0"/>
          </p:cNvCxnSpPr>
          <p:nvPr/>
        </p:nvCxnSpPr>
        <p:spPr>
          <a:xfrm>
            <a:off x="4244523" y="1537066"/>
            <a:ext cx="188696" cy="51597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Google Shape;266;g2baceab7d03_0_57">
            <a:extLst>
              <a:ext uri="{FF2B5EF4-FFF2-40B4-BE49-F238E27FC236}">
                <a16:creationId xmlns:a16="http://schemas.microsoft.com/office/drawing/2014/main" id="{1D8FC655-104D-6FF1-A064-1187C3F380C8}"/>
              </a:ext>
            </a:extLst>
          </p:cNvPr>
          <p:cNvGrpSpPr/>
          <p:nvPr/>
        </p:nvGrpSpPr>
        <p:grpSpPr>
          <a:xfrm>
            <a:off x="2980908" y="5266235"/>
            <a:ext cx="553000" cy="647625"/>
            <a:chOff x="221775" y="2644700"/>
            <a:chExt cx="553000" cy="647625"/>
          </a:xfrm>
        </p:grpSpPr>
        <p:sp>
          <p:nvSpPr>
            <p:cNvPr id="43" name="Google Shape;267;g2baceab7d03_0_57">
              <a:extLst>
                <a:ext uri="{FF2B5EF4-FFF2-40B4-BE49-F238E27FC236}">
                  <a16:creationId xmlns:a16="http://schemas.microsoft.com/office/drawing/2014/main" id="{62D60FE9-8330-914D-5B92-283A09453620}"/>
                </a:ext>
              </a:extLst>
            </p:cNvPr>
            <p:cNvSpPr/>
            <p:nvPr/>
          </p:nvSpPr>
          <p:spPr>
            <a:xfrm>
              <a:off x="419500" y="2644700"/>
              <a:ext cx="155100" cy="155100"/>
            </a:xfrm>
            <a:prstGeom prst="ellipse">
              <a:avLst/>
            </a:prstGeom>
            <a:solidFill>
              <a:schemeClr val="lt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4" name="Google Shape;268;g2baceab7d03_0_57">
              <a:extLst>
                <a:ext uri="{FF2B5EF4-FFF2-40B4-BE49-F238E27FC236}">
                  <a16:creationId xmlns:a16="http://schemas.microsoft.com/office/drawing/2014/main" id="{59917CF5-4E65-1DAD-4B05-580C97531612}"/>
                </a:ext>
              </a:extLst>
            </p:cNvPr>
            <p:cNvCxnSpPr>
              <a:cxnSpLocks/>
              <a:stCxn id="43" idx="4"/>
            </p:cNvCxnSpPr>
            <p:nvPr/>
          </p:nvCxnSpPr>
          <p:spPr>
            <a:xfrm>
              <a:off x="497050" y="2799800"/>
              <a:ext cx="0" cy="246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269;g2baceab7d03_0_57">
              <a:extLst>
                <a:ext uri="{FF2B5EF4-FFF2-40B4-BE49-F238E27FC236}">
                  <a16:creationId xmlns:a16="http://schemas.microsoft.com/office/drawing/2014/main" id="{09CF33FA-DA5B-650D-2B95-5613C8CA8805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501175" y="2702175"/>
              <a:ext cx="273600" cy="191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" name="Google Shape;270;g2baceab7d03_0_57">
              <a:extLst>
                <a:ext uri="{FF2B5EF4-FFF2-40B4-BE49-F238E27FC236}">
                  <a16:creationId xmlns:a16="http://schemas.microsoft.com/office/drawing/2014/main" id="{54ABB6C2-AD4A-BB8E-780D-34D274E75D49}"/>
                </a:ext>
              </a:extLst>
            </p:cNvPr>
            <p:cNvCxnSpPr>
              <a:cxnSpLocks/>
            </p:cNvCxnSpPr>
            <p:nvPr/>
          </p:nvCxnSpPr>
          <p:spPr>
            <a:xfrm>
              <a:off x="221775" y="2702175"/>
              <a:ext cx="273600" cy="191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" name="Google Shape;271;g2baceab7d03_0_57">
              <a:extLst>
                <a:ext uri="{FF2B5EF4-FFF2-40B4-BE49-F238E27FC236}">
                  <a16:creationId xmlns:a16="http://schemas.microsoft.com/office/drawing/2014/main" id="{F8C9EA35-A8B2-8A65-6617-355F389F7C1E}"/>
                </a:ext>
              </a:extLst>
            </p:cNvPr>
            <p:cNvCxnSpPr>
              <a:cxnSpLocks/>
            </p:cNvCxnSpPr>
            <p:nvPr/>
          </p:nvCxnSpPr>
          <p:spPr>
            <a:xfrm>
              <a:off x="497995" y="3027725"/>
              <a:ext cx="191400" cy="264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" name="Google Shape;272;g2baceab7d03_0_57">
              <a:extLst>
                <a:ext uri="{FF2B5EF4-FFF2-40B4-BE49-F238E27FC236}">
                  <a16:creationId xmlns:a16="http://schemas.microsoft.com/office/drawing/2014/main" id="{9CC09AEB-408C-6696-942C-FC235470C7FB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303509" y="3027725"/>
              <a:ext cx="191400" cy="264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9" name="Google Shape;224;g2baceab7d03_0_22">
            <a:extLst>
              <a:ext uri="{FF2B5EF4-FFF2-40B4-BE49-F238E27FC236}">
                <a16:creationId xmlns:a16="http://schemas.microsoft.com/office/drawing/2014/main" id="{07D1A20B-139D-7068-4A27-465A2B8B87D3}"/>
              </a:ext>
            </a:extLst>
          </p:cNvPr>
          <p:cNvSpPr txBox="1"/>
          <p:nvPr/>
        </p:nvSpPr>
        <p:spPr>
          <a:xfrm>
            <a:off x="4693174" y="5068208"/>
            <a:ext cx="499790" cy="384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http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1055B86-6BC1-5242-AE68-15894DA506CB}"/>
              </a:ext>
            </a:extLst>
          </p:cNvPr>
          <p:cNvSpPr/>
          <p:nvPr/>
        </p:nvSpPr>
        <p:spPr>
          <a:xfrm>
            <a:off x="5552996" y="4765911"/>
            <a:ext cx="1303992" cy="130399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ARC clusters</a:t>
            </a:r>
          </a:p>
        </p:txBody>
      </p:sp>
      <p:cxnSp>
        <p:nvCxnSpPr>
          <p:cNvPr id="51" name="Google Shape;241;g2baceab7d03_0_22">
            <a:extLst>
              <a:ext uri="{FF2B5EF4-FFF2-40B4-BE49-F238E27FC236}">
                <a16:creationId xmlns:a16="http://schemas.microsoft.com/office/drawing/2014/main" id="{CC5EE126-4FF9-5C66-4FD1-32DDADAF7629}"/>
              </a:ext>
            </a:extLst>
          </p:cNvPr>
          <p:cNvCxnSpPr>
            <a:cxnSpLocks/>
            <a:stCxn id="62" idx="3"/>
            <a:endCxn id="101" idx="2"/>
          </p:cNvCxnSpPr>
          <p:nvPr/>
        </p:nvCxnSpPr>
        <p:spPr>
          <a:xfrm>
            <a:off x="4668297" y="5414637"/>
            <a:ext cx="564331" cy="3271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DA3C0D9-DA33-5C5E-E672-BE2CCD8E95D2}"/>
              </a:ext>
            </a:extLst>
          </p:cNvPr>
          <p:cNvGrpSpPr/>
          <p:nvPr/>
        </p:nvGrpSpPr>
        <p:grpSpPr>
          <a:xfrm>
            <a:off x="3740765" y="5073232"/>
            <a:ext cx="927532" cy="1096279"/>
            <a:chOff x="4303843" y="1395015"/>
            <a:chExt cx="927532" cy="1096279"/>
          </a:xfrm>
        </p:grpSpPr>
        <p:sp>
          <p:nvSpPr>
            <p:cNvPr id="60" name="Google Shape;221;g2baceab7d03_0_22">
              <a:extLst>
                <a:ext uri="{FF2B5EF4-FFF2-40B4-BE49-F238E27FC236}">
                  <a16:creationId xmlns:a16="http://schemas.microsoft.com/office/drawing/2014/main" id="{085D3537-9191-678E-DEAA-8EAF3D066FBB}"/>
                </a:ext>
              </a:extLst>
            </p:cNvPr>
            <p:cNvSpPr/>
            <p:nvPr/>
          </p:nvSpPr>
          <p:spPr>
            <a:xfrm>
              <a:off x="4319946" y="2117494"/>
              <a:ext cx="903000" cy="3738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latin typeface="Calibri"/>
                  <a:ea typeface="Calibri"/>
                  <a:cs typeface="Calibri"/>
                  <a:sym typeface="Calibri"/>
                </a:rPr>
                <a:t>laptop</a:t>
              </a:r>
              <a:endParaRPr sz="13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221;g2baceab7d03_0_22">
              <a:extLst>
                <a:ext uri="{FF2B5EF4-FFF2-40B4-BE49-F238E27FC236}">
                  <a16:creationId xmlns:a16="http://schemas.microsoft.com/office/drawing/2014/main" id="{C1283B6F-A535-A7D5-31EC-03F04BFDEB6E}"/>
                </a:ext>
              </a:extLst>
            </p:cNvPr>
            <p:cNvSpPr/>
            <p:nvPr/>
          </p:nvSpPr>
          <p:spPr>
            <a:xfrm>
              <a:off x="4303843" y="1395015"/>
              <a:ext cx="927532" cy="682809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224;g2baceab7d03_0_22">
            <a:extLst>
              <a:ext uri="{FF2B5EF4-FFF2-40B4-BE49-F238E27FC236}">
                <a16:creationId xmlns:a16="http://schemas.microsoft.com/office/drawing/2014/main" id="{D16DE952-9E87-7027-90AB-91F5ACEE345C}"/>
              </a:ext>
            </a:extLst>
          </p:cNvPr>
          <p:cNvSpPr txBox="1"/>
          <p:nvPr/>
        </p:nvSpPr>
        <p:spPr>
          <a:xfrm>
            <a:off x="3067888" y="4389985"/>
            <a:ext cx="936795" cy="58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432FF"/>
                </a:solidFill>
                <a:latin typeface="Calibri"/>
                <a:ea typeface="Calibri"/>
                <a:cs typeface="Calibri"/>
                <a:sym typeface="Calibri"/>
              </a:rPr>
              <a:t>web browser</a:t>
            </a:r>
            <a:endParaRPr sz="1300" b="1" dirty="0">
              <a:solidFill>
                <a:srgbClr val="043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Curved Connector 99">
            <a:extLst>
              <a:ext uri="{FF2B5EF4-FFF2-40B4-BE49-F238E27FC236}">
                <a16:creationId xmlns:a16="http://schemas.microsoft.com/office/drawing/2014/main" id="{452152E8-D210-3AF7-1FFF-859A70A54C50}"/>
              </a:ext>
            </a:extLst>
          </p:cNvPr>
          <p:cNvCxnSpPr>
            <a:cxnSpLocks/>
            <a:stCxn id="98" idx="3"/>
            <a:endCxn id="62" idx="0"/>
          </p:cNvCxnSpPr>
          <p:nvPr/>
        </p:nvCxnSpPr>
        <p:spPr>
          <a:xfrm>
            <a:off x="4004683" y="4682358"/>
            <a:ext cx="199848" cy="390874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1" name="Picture 110">
            <a:extLst>
              <a:ext uri="{FF2B5EF4-FFF2-40B4-BE49-F238E27FC236}">
                <a16:creationId xmlns:a16="http://schemas.microsoft.com/office/drawing/2014/main" id="{A7FFC442-6253-927B-4EC0-2185926B2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3784085" y="5090514"/>
            <a:ext cx="479684" cy="479684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656D6848-795B-09EE-6FCC-2A8036135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4531" y="5337366"/>
            <a:ext cx="424102" cy="424102"/>
          </a:xfrm>
          <a:prstGeom prst="rect">
            <a:avLst/>
          </a:prstGeom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AB94F2A7-4EBC-0FEC-5024-5C09B81F42DF}"/>
              </a:ext>
            </a:extLst>
          </p:cNvPr>
          <p:cNvSpPr txBox="1"/>
          <p:nvPr/>
        </p:nvSpPr>
        <p:spPr>
          <a:xfrm>
            <a:off x="8199621" y="2550788"/>
            <a:ext cx="24284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Many people, particularly those less familiar with research computing, feel OOD is a gentler way to interact with research computing clusters. 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6B6030F-5938-4704-5676-1DD5734114E4}"/>
              </a:ext>
            </a:extLst>
          </p:cNvPr>
          <p:cNvSpPr txBox="1"/>
          <p:nvPr/>
        </p:nvSpPr>
        <p:spPr>
          <a:xfrm rot="19069344">
            <a:off x="5349797" y="4589381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Open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636D793C-FBB4-2D21-81AE-A9B60ABA0292}"/>
              </a:ext>
            </a:extLst>
          </p:cNvPr>
          <p:cNvSpPr txBox="1"/>
          <p:nvPr/>
        </p:nvSpPr>
        <p:spPr>
          <a:xfrm rot="2287424">
            <a:off x="6227842" y="4753088"/>
            <a:ext cx="1200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Demand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DC6D36D-6477-30C3-54EE-58AC63E84664}"/>
              </a:ext>
            </a:extLst>
          </p:cNvPr>
          <p:cNvSpPr txBox="1"/>
          <p:nvPr/>
        </p:nvSpPr>
        <p:spPr>
          <a:xfrm>
            <a:off x="5932944" y="4415471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On</a:t>
            </a:r>
          </a:p>
        </p:txBody>
      </p:sp>
    </p:spTree>
    <p:extLst>
      <p:ext uri="{BB962C8B-B14F-4D97-AF65-F5344CB8AC3E}">
        <p14:creationId xmlns:p14="http://schemas.microsoft.com/office/powerpoint/2010/main" val="3838774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56</Words>
  <Application>Microsoft Macintosh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Kuhlman, Chris</dc:creator>
  <cp:lastModifiedBy>Kuhlman, Chris</cp:lastModifiedBy>
  <cp:revision>9</cp:revision>
  <dcterms:created xsi:type="dcterms:W3CDTF">2024-10-01T12:27:34Z</dcterms:created>
  <dcterms:modified xsi:type="dcterms:W3CDTF">2025-03-06T21:06:04Z</dcterms:modified>
</cp:coreProperties>
</file>
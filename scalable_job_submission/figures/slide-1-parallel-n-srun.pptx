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b7a70c6d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9b7a70c6d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6369050" y="630125"/>
            <a:ext cx="2593200" cy="358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#!/bin/bash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## Job name.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#SBATCH -J gpara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## Wall time.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#SBATCH --time=0-20:00:00 # 20 hour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## Account.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#SBATCH --account=arcadm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## Use the genoa nodes of the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## normal_q partition.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#SBATCH --partition=normal_q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#SBATCH --constraint=genoa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#SBATCH --constraint=avx512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## This specifies the number of CPUs.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#SBATCH --nodes=1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#SBATCH --ntasks-per-node=1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#SBATCH --cpus-per-task=</a:t>
            </a:r>
            <a:r>
              <a:rPr lang="en" sz="1100">
                <a:solidFill>
                  <a:srgbClr val="FF0000"/>
                </a:solidFill>
              </a:rPr>
              <a:t>1 or 12</a:t>
            </a:r>
            <a:endParaRPr sz="1100"/>
          </a:p>
        </p:txBody>
      </p:sp>
      <p:sp>
        <p:nvSpPr>
          <p:cNvPr id="55" name="Google Shape;55;p13"/>
          <p:cNvSpPr txBox="1"/>
          <p:nvPr/>
        </p:nvSpPr>
        <p:spPr>
          <a:xfrm>
            <a:off x="5861070" y="138098"/>
            <a:ext cx="3539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500">
                <a:solidFill>
                  <a:srgbClr val="0000FF"/>
                </a:solidFill>
              </a:rPr>
              <a:t>portion of sbatch slurm script</a:t>
            </a:r>
            <a:endParaRPr b="1" i="1" sz="1500">
              <a:solidFill>
                <a:srgbClr val="0000FF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66775" y="684375"/>
            <a:ext cx="456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“(gnu) parallel” command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66775" y="1208375"/>
            <a:ext cx="5232900" cy="9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889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33333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parallel echo values :  {1}  {2} {3} ';' python print_lines.py --animal {1}  --action  {2}  --where  {3}  ::: cat dog  ::: dancing singing moonwalking  ::: "hot tin roof" driveway "ball at the beach" ceiling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366775" y="2401325"/>
            <a:ext cx="5232900" cy="9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889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33333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parallel </a:t>
            </a:r>
            <a:r>
              <a:rPr b="1" lang="en" sz="1000">
                <a:solidFill>
                  <a:srgbClr val="333333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--jobs $SLURM_CPUS_PER_TASK</a:t>
            </a:r>
            <a:r>
              <a:rPr lang="en" sz="1000">
                <a:solidFill>
                  <a:srgbClr val="333333"/>
                </a:solidFill>
                <a:highlight>
                  <a:srgbClr val="F8F8F8"/>
                </a:highlight>
                <a:latin typeface="Courier New"/>
                <a:ea typeface="Courier New"/>
                <a:cs typeface="Courier New"/>
                <a:sym typeface="Courier New"/>
              </a:rPr>
              <a:t>   echo values :  {1}  {2} {3} ';' python print_lines.py --animal {1}  --action  {2}  --where  {3}  ::: cat dog  ::: dancing singing moonwalking  ::: "hot tin roof" driveway "ball at the beach" ceiling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421025" y="2085475"/>
            <a:ext cx="43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or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421025" y="3416743"/>
            <a:ext cx="5380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chemeClr val="dk2"/>
                </a:solidFill>
              </a:rPr>
              <a:t>What does each of these (equivalent) commands do?</a:t>
            </a:r>
            <a:endParaRPr i="1" sz="1500">
              <a:solidFill>
                <a:schemeClr val="dk2"/>
              </a:solidFill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4572000" y="3963300"/>
            <a:ext cx="1291800" cy="1125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hot tin roof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driveway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ball at the beach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ceiling</a:t>
            </a:r>
            <a:endParaRPr sz="1100"/>
          </a:p>
        </p:txBody>
      </p:sp>
      <p:sp>
        <p:nvSpPr>
          <p:cNvPr id="62" name="Google Shape;62;p13"/>
          <p:cNvSpPr/>
          <p:nvPr/>
        </p:nvSpPr>
        <p:spPr>
          <a:xfrm>
            <a:off x="1023000" y="3963300"/>
            <a:ext cx="1291800" cy="1125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cat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dog</a:t>
            </a:r>
            <a:endParaRPr sz="1100"/>
          </a:p>
        </p:txBody>
      </p:sp>
      <p:sp>
        <p:nvSpPr>
          <p:cNvPr id="63" name="Google Shape;63;p13"/>
          <p:cNvSpPr/>
          <p:nvPr/>
        </p:nvSpPr>
        <p:spPr>
          <a:xfrm>
            <a:off x="2797500" y="3963300"/>
            <a:ext cx="1291800" cy="1125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dancing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singing</a:t>
            </a:r>
            <a:endParaRPr sz="11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moonwalking</a:t>
            </a:r>
            <a:endParaRPr sz="1100"/>
          </a:p>
        </p:txBody>
      </p:sp>
      <p:sp>
        <p:nvSpPr>
          <p:cNvPr id="64" name="Google Shape;64;p13"/>
          <p:cNvSpPr txBox="1"/>
          <p:nvPr/>
        </p:nvSpPr>
        <p:spPr>
          <a:xfrm>
            <a:off x="4134400" y="4265050"/>
            <a:ext cx="30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</a:rPr>
              <a:t>X</a:t>
            </a:r>
            <a:endParaRPr b="1" sz="1800">
              <a:solidFill>
                <a:srgbClr val="0000FF"/>
              </a:solidFill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2403300" y="4295100"/>
            <a:ext cx="30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</a:rPr>
              <a:t>X</a:t>
            </a:r>
            <a:endParaRPr b="1" sz="1800">
              <a:solidFill>
                <a:srgbClr val="0000FF"/>
              </a:solidFill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26519" y="4171504"/>
            <a:ext cx="11787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FF"/>
                </a:solidFill>
              </a:rPr>
              <a:t>Cartesian product</a:t>
            </a:r>
            <a:endParaRPr sz="1600">
              <a:solidFill>
                <a:srgbClr val="FF00FF"/>
              </a:solidFill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248700" y="115000"/>
            <a:ext cx="586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900FF"/>
                </a:solidFill>
              </a:rPr>
              <a:t>The Patterns: (a) cartesian product, (b) parallelism</a:t>
            </a:r>
            <a:endParaRPr b="1" sz="1800">
              <a:solidFill>
                <a:srgbClr val="9900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